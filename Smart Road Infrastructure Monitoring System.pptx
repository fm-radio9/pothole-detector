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DM Sans Bold" charset="1" panose="00000000000000000000"/>
      <p:regular r:id="rId17"/>
    </p:embeddedFont>
    <p:embeddedFont>
      <p:font typeface="Space Mono Bold" charset="1" panose="02000809030000020004"/>
      <p:regular r:id="rId18"/>
    </p:embeddedFont>
    <p:embeddedFont>
      <p:font typeface="DM Sans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4.jpe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723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660563"/>
            <a:ext cx="18288000" cy="626437"/>
            <a:chOff x="0" y="0"/>
            <a:chExt cx="4816593" cy="1649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64987"/>
            </a:xfrm>
            <a:custGeom>
              <a:avLst/>
              <a:gdLst/>
              <a:ahLst/>
              <a:cxnLst/>
              <a:rect r="r" b="b" t="t" l="l"/>
              <a:pathLst>
                <a:path h="1649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4987"/>
                  </a:lnTo>
                  <a:lnTo>
                    <a:pt x="0" y="164987"/>
                  </a:lnTo>
                  <a:close/>
                </a:path>
              </a:pathLst>
            </a:custGeom>
            <a:solidFill>
              <a:srgbClr val="4D8B7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030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15497053" y="7496053"/>
            <a:ext cx="2416870" cy="3165024"/>
            <a:chOff x="0" y="0"/>
            <a:chExt cx="571500" cy="7484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71500" cy="748411"/>
            </a:xfrm>
            <a:custGeom>
              <a:avLst/>
              <a:gdLst/>
              <a:ahLst/>
              <a:cxnLst/>
              <a:rect r="r" b="b" t="t" l="l"/>
              <a:pathLst>
                <a:path h="748411" w="571500">
                  <a:moveTo>
                    <a:pt x="571500" y="748411"/>
                  </a:moveTo>
                  <a:lnTo>
                    <a:pt x="0" y="748411"/>
                  </a:lnTo>
                  <a:lnTo>
                    <a:pt x="0" y="0"/>
                  </a:lnTo>
                  <a:lnTo>
                    <a:pt x="571500" y="748411"/>
                  </a:lnTo>
                  <a:close/>
                </a:path>
              </a:pathLst>
            </a:custGeom>
            <a:solidFill>
              <a:srgbClr val="4D8B7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336105"/>
              <a:ext cx="285750" cy="410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96412" y="1231805"/>
            <a:ext cx="17956806" cy="6114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20"/>
              </a:lnSpc>
            </a:pPr>
            <a:r>
              <a:rPr lang="en-US" sz="11657" b="true">
                <a:solidFill>
                  <a:srgbClr val="F3FDFB"/>
                </a:solidFill>
                <a:latin typeface="DM Sans Bold"/>
                <a:ea typeface="DM Sans Bold"/>
                <a:cs typeface="DM Sans Bold"/>
                <a:sym typeface="DM Sans Bold"/>
              </a:rPr>
              <a:t>Smart Road Infrastructure</a:t>
            </a:r>
          </a:p>
          <a:p>
            <a:pPr algn="l">
              <a:lnSpc>
                <a:spcPts val="16320"/>
              </a:lnSpc>
            </a:pPr>
            <a:r>
              <a:rPr lang="en-US" sz="11657" b="true">
                <a:solidFill>
                  <a:srgbClr val="F3FDFB"/>
                </a:solidFill>
                <a:latin typeface="DM Sans Bold"/>
                <a:ea typeface="DM Sans Bold"/>
                <a:cs typeface="DM Sans Bold"/>
                <a:sym typeface="DM Sans Bold"/>
              </a:rPr>
              <a:t>Monitoring System</a:t>
            </a:r>
            <a:r>
              <a:rPr lang="en-US" sz="11657" b="true">
                <a:solidFill>
                  <a:srgbClr val="F3FDFB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069198" y="9238325"/>
            <a:ext cx="866785" cy="42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3FDFB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96412" y="7447855"/>
            <a:ext cx="1071938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ESP32-Based Pothole Detection and Maintenance Alert System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0594" y="315588"/>
            <a:ext cx="17226812" cy="9157669"/>
            <a:chOff x="0" y="0"/>
            <a:chExt cx="2389637" cy="12703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89637" cy="1270317"/>
            </a:xfrm>
            <a:custGeom>
              <a:avLst/>
              <a:gdLst/>
              <a:ahLst/>
              <a:cxnLst/>
              <a:rect r="r" b="b" t="t" l="l"/>
              <a:pathLst>
                <a:path h="1270317" w="2389637">
                  <a:moveTo>
                    <a:pt x="19774" y="0"/>
                  </a:moveTo>
                  <a:lnTo>
                    <a:pt x="2369863" y="0"/>
                  </a:lnTo>
                  <a:cubicBezTo>
                    <a:pt x="2380784" y="0"/>
                    <a:pt x="2389637" y="8853"/>
                    <a:pt x="2389637" y="19774"/>
                  </a:cubicBezTo>
                  <a:lnTo>
                    <a:pt x="2389637" y="1250543"/>
                  </a:lnTo>
                  <a:cubicBezTo>
                    <a:pt x="2389637" y="1261464"/>
                    <a:pt x="2380784" y="1270317"/>
                    <a:pt x="2369863" y="1270317"/>
                  </a:cubicBezTo>
                  <a:lnTo>
                    <a:pt x="19774" y="1270317"/>
                  </a:lnTo>
                  <a:cubicBezTo>
                    <a:pt x="8853" y="1270317"/>
                    <a:pt x="0" y="1261464"/>
                    <a:pt x="0" y="1250543"/>
                  </a:cubicBezTo>
                  <a:lnTo>
                    <a:pt x="0" y="19774"/>
                  </a:lnTo>
                  <a:cubicBezTo>
                    <a:pt x="0" y="8853"/>
                    <a:pt x="8853" y="0"/>
                    <a:pt x="19774" y="0"/>
                  </a:cubicBezTo>
                  <a:close/>
                </a:path>
              </a:pathLst>
            </a:custGeom>
            <a:blipFill>
              <a:blip r:embed="rId2">
                <a:alphaModFix amt="41000"/>
              </a:blip>
              <a:stretch>
                <a:fillRect l="0" t="-90956" r="0" b="-90956"/>
              </a:stretch>
            </a:blipFill>
            <a:ln w="19050" cap="rnd">
              <a:solidFill>
                <a:srgbClr val="FFFFFF">
                  <a:alpha val="40784"/>
                </a:srgbClr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660563"/>
            <a:ext cx="18288000" cy="626437"/>
            <a:chOff x="0" y="0"/>
            <a:chExt cx="4816593" cy="16498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164987"/>
            </a:xfrm>
            <a:custGeom>
              <a:avLst/>
              <a:gdLst/>
              <a:ahLst/>
              <a:cxnLst/>
              <a:rect r="r" b="b" t="t" l="l"/>
              <a:pathLst>
                <a:path h="1649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4987"/>
                  </a:lnTo>
                  <a:lnTo>
                    <a:pt x="0" y="164987"/>
                  </a:lnTo>
                  <a:close/>
                </a:path>
              </a:pathLst>
            </a:custGeom>
            <a:solidFill>
              <a:srgbClr val="4D8B7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2030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5400000">
            <a:off x="15497053" y="7496053"/>
            <a:ext cx="2416870" cy="3165024"/>
            <a:chOff x="0" y="0"/>
            <a:chExt cx="571500" cy="7484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1500" cy="748411"/>
            </a:xfrm>
            <a:custGeom>
              <a:avLst/>
              <a:gdLst/>
              <a:ahLst/>
              <a:cxnLst/>
              <a:rect r="r" b="b" t="t" l="l"/>
              <a:pathLst>
                <a:path h="748411" w="571500">
                  <a:moveTo>
                    <a:pt x="571500" y="748411"/>
                  </a:moveTo>
                  <a:lnTo>
                    <a:pt x="0" y="748411"/>
                  </a:lnTo>
                  <a:lnTo>
                    <a:pt x="0" y="0"/>
                  </a:lnTo>
                  <a:lnTo>
                    <a:pt x="571500" y="748411"/>
                  </a:lnTo>
                  <a:close/>
                </a:path>
              </a:pathLst>
            </a:custGeom>
            <a:solidFill>
              <a:srgbClr val="4D8B7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336105"/>
              <a:ext cx="285750" cy="410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662257" y="1311388"/>
            <a:ext cx="6597043" cy="7166068"/>
            <a:chOff x="0" y="0"/>
            <a:chExt cx="1022055" cy="11102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2055" cy="1110211"/>
            </a:xfrm>
            <a:custGeom>
              <a:avLst/>
              <a:gdLst/>
              <a:ahLst/>
              <a:cxnLst/>
              <a:rect r="r" b="b" t="t" l="l"/>
              <a:pathLst>
                <a:path h="1110211" w="1022055">
                  <a:moveTo>
                    <a:pt x="26992" y="0"/>
                  </a:moveTo>
                  <a:lnTo>
                    <a:pt x="995063" y="0"/>
                  </a:lnTo>
                  <a:cubicBezTo>
                    <a:pt x="1009970" y="0"/>
                    <a:pt x="1022055" y="12085"/>
                    <a:pt x="1022055" y="26992"/>
                  </a:cubicBezTo>
                  <a:lnTo>
                    <a:pt x="1022055" y="1083220"/>
                  </a:lnTo>
                  <a:cubicBezTo>
                    <a:pt x="1022055" y="1098127"/>
                    <a:pt x="1009970" y="1110211"/>
                    <a:pt x="995063" y="1110211"/>
                  </a:cubicBezTo>
                  <a:lnTo>
                    <a:pt x="26992" y="1110211"/>
                  </a:lnTo>
                  <a:cubicBezTo>
                    <a:pt x="12085" y="1110211"/>
                    <a:pt x="0" y="1098127"/>
                    <a:pt x="0" y="1083220"/>
                  </a:cubicBezTo>
                  <a:lnTo>
                    <a:pt x="0" y="26992"/>
                  </a:lnTo>
                  <a:cubicBezTo>
                    <a:pt x="0" y="12085"/>
                    <a:pt x="12085" y="0"/>
                    <a:pt x="26992" y="0"/>
                  </a:cubicBezTo>
                  <a:close/>
                </a:path>
              </a:pathLst>
            </a:custGeom>
            <a:blipFill>
              <a:blip r:embed="rId3"/>
              <a:stretch>
                <a:fillRect l="-31469" t="0" r="-31469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7069198" y="9238325"/>
            <a:ext cx="866785" cy="42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3FDFB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9561" y="866775"/>
            <a:ext cx="7780735" cy="1377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true">
                <a:solidFill>
                  <a:srgbClr val="F3FDFB"/>
                </a:solidFill>
                <a:latin typeface="DM Sans Bold"/>
                <a:ea typeface="DM Sans Bold"/>
                <a:cs typeface="DM Sans Bold"/>
                <a:sym typeface="DM Sans Bold"/>
              </a:rPr>
              <a:t>Introduction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197137"/>
            <a:ext cx="8479899" cy="6383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8038" indent="-279019" lvl="1">
              <a:lnSpc>
                <a:spcPts val="3618"/>
              </a:lnSpc>
              <a:buFont typeface="Arial"/>
              <a:buChar char="•"/>
            </a:pPr>
            <a:r>
              <a:rPr lang="en-US" sz="2584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Potholes are a major concern for road safety and vehicle maintenance.</a:t>
            </a:r>
          </a:p>
          <a:p>
            <a:pPr algn="l">
              <a:lnSpc>
                <a:spcPts val="3618"/>
              </a:lnSpc>
            </a:pPr>
          </a:p>
          <a:p>
            <a:pPr algn="l" marL="558038" indent="-279019" lvl="1">
              <a:lnSpc>
                <a:spcPts val="3618"/>
              </a:lnSpc>
              <a:buFont typeface="Arial"/>
              <a:buChar char="•"/>
            </a:pPr>
            <a:r>
              <a:rPr lang="en-US" sz="2584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Traditional road inspections require manual effort and time.</a:t>
            </a:r>
          </a:p>
          <a:p>
            <a:pPr algn="l">
              <a:lnSpc>
                <a:spcPts val="3618"/>
              </a:lnSpc>
            </a:pPr>
          </a:p>
          <a:p>
            <a:pPr algn="l" marL="558038" indent="-279019" lvl="1">
              <a:lnSpc>
                <a:spcPts val="3618"/>
              </a:lnSpc>
              <a:buFont typeface="Arial"/>
              <a:buChar char="•"/>
            </a:pPr>
            <a:r>
              <a:rPr lang="en-US" sz="2584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An automated monitoring system can help identify road damage efficiently.</a:t>
            </a:r>
          </a:p>
          <a:p>
            <a:pPr algn="l">
              <a:lnSpc>
                <a:spcPts val="3618"/>
              </a:lnSpc>
            </a:pPr>
          </a:p>
          <a:p>
            <a:pPr algn="l" marL="558038" indent="-279019" lvl="1">
              <a:lnSpc>
                <a:spcPts val="3618"/>
              </a:lnSpc>
              <a:buFont typeface="Arial"/>
              <a:buChar char="•"/>
            </a:pPr>
            <a:r>
              <a:rPr lang="en-US" sz="2584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Our project uses ESP32 and multiple sensors to detect potholes and monitor road conditions.</a:t>
            </a:r>
          </a:p>
          <a:p>
            <a:pPr algn="l">
              <a:lnSpc>
                <a:spcPts val="3618"/>
              </a:lnSpc>
            </a:pPr>
          </a:p>
          <a:p>
            <a:pPr algn="l" marL="558038" indent="-279019" lvl="1">
              <a:lnSpc>
                <a:spcPts val="3618"/>
              </a:lnSpc>
              <a:buFont typeface="Arial"/>
              <a:buChar char="•"/>
            </a:pPr>
            <a:r>
              <a:rPr lang="en-US" sz="2584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Sensor readings are transmitted wirelessly to a web-based dashboard.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786376" y="-4123425"/>
            <a:ext cx="16715249" cy="8521499"/>
            <a:chOff x="0" y="0"/>
            <a:chExt cx="647700" cy="330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7700" cy="330200"/>
            </a:xfrm>
            <a:custGeom>
              <a:avLst/>
              <a:gdLst/>
              <a:ahLst/>
              <a:cxnLst/>
              <a:rect r="r" b="b" t="t" l="l"/>
              <a:pathLst>
                <a:path h="330200" w="647700">
                  <a:moveTo>
                    <a:pt x="647700" y="330200"/>
                  </a:moveTo>
                  <a:cubicBezTo>
                    <a:pt x="647700" y="150345"/>
                    <a:pt x="500247" y="0"/>
                    <a:pt x="323850" y="0"/>
                  </a:cubicBezTo>
                  <a:cubicBezTo>
                    <a:pt x="147453" y="0"/>
                    <a:pt x="0" y="150345"/>
                    <a:pt x="0" y="330200"/>
                  </a:cubicBezTo>
                  <a:lnTo>
                    <a:pt x="647700" y="330200"/>
                  </a:lnTo>
                  <a:close/>
                </a:path>
              </a:pathLst>
            </a:custGeom>
            <a:gradFill rotWithShape="true">
              <a:gsLst>
                <a:gs pos="0">
                  <a:srgbClr val="64BAA8">
                    <a:alpha val="44000"/>
                  </a:srgbClr>
                </a:gs>
                <a:gs pos="50000">
                  <a:srgbClr val="025F4C">
                    <a:alpha val="44000"/>
                  </a:srgbClr>
                </a:gs>
                <a:gs pos="100000">
                  <a:srgbClr val="4DFFDA">
                    <a:alpha val="44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52400" y="69850"/>
              <a:ext cx="342900" cy="260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6376" y="5888926"/>
            <a:ext cx="16715249" cy="8521499"/>
            <a:chOff x="0" y="0"/>
            <a:chExt cx="647700" cy="330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7700" cy="330200"/>
            </a:xfrm>
            <a:custGeom>
              <a:avLst/>
              <a:gdLst/>
              <a:ahLst/>
              <a:cxnLst/>
              <a:rect r="r" b="b" t="t" l="l"/>
              <a:pathLst>
                <a:path h="330200" w="647700">
                  <a:moveTo>
                    <a:pt x="647700" y="330200"/>
                  </a:moveTo>
                  <a:cubicBezTo>
                    <a:pt x="647700" y="150345"/>
                    <a:pt x="500247" y="0"/>
                    <a:pt x="323850" y="0"/>
                  </a:cubicBezTo>
                  <a:cubicBezTo>
                    <a:pt x="147453" y="0"/>
                    <a:pt x="0" y="150345"/>
                    <a:pt x="0" y="330200"/>
                  </a:cubicBezTo>
                  <a:lnTo>
                    <a:pt x="647700" y="330200"/>
                  </a:lnTo>
                  <a:close/>
                </a:path>
              </a:pathLst>
            </a:custGeom>
            <a:gradFill rotWithShape="true">
              <a:gsLst>
                <a:gs pos="0">
                  <a:srgbClr val="4D8B7E">
                    <a:alpha val="44000"/>
                  </a:srgbClr>
                </a:gs>
                <a:gs pos="50000">
                  <a:srgbClr val="78E8C5">
                    <a:alpha val="44000"/>
                  </a:srgbClr>
                </a:gs>
                <a:gs pos="100000">
                  <a:srgbClr val="00644F">
                    <a:alpha val="44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52400" y="69850"/>
              <a:ext cx="342900" cy="260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660563"/>
            <a:ext cx="18288000" cy="626437"/>
            <a:chOff x="0" y="0"/>
            <a:chExt cx="4816593" cy="1649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164987"/>
            </a:xfrm>
            <a:custGeom>
              <a:avLst/>
              <a:gdLst/>
              <a:ahLst/>
              <a:cxnLst/>
              <a:rect r="r" b="b" t="t" l="l"/>
              <a:pathLst>
                <a:path h="1649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4987"/>
                  </a:lnTo>
                  <a:lnTo>
                    <a:pt x="0" y="164987"/>
                  </a:lnTo>
                  <a:close/>
                </a:path>
              </a:pathLst>
            </a:custGeom>
            <a:solidFill>
              <a:srgbClr val="4D8B7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2030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15497053" y="7496053"/>
            <a:ext cx="2416870" cy="3165024"/>
            <a:chOff x="0" y="0"/>
            <a:chExt cx="571500" cy="7484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71500" cy="748411"/>
            </a:xfrm>
            <a:custGeom>
              <a:avLst/>
              <a:gdLst/>
              <a:ahLst/>
              <a:cxnLst/>
              <a:rect r="r" b="b" t="t" l="l"/>
              <a:pathLst>
                <a:path h="748411" w="571500">
                  <a:moveTo>
                    <a:pt x="571500" y="748411"/>
                  </a:moveTo>
                  <a:lnTo>
                    <a:pt x="0" y="748411"/>
                  </a:lnTo>
                  <a:lnTo>
                    <a:pt x="0" y="0"/>
                  </a:lnTo>
                  <a:lnTo>
                    <a:pt x="571500" y="748411"/>
                  </a:lnTo>
                  <a:close/>
                </a:path>
              </a:pathLst>
            </a:custGeom>
            <a:solidFill>
              <a:srgbClr val="4D8B7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336105"/>
              <a:ext cx="285750" cy="410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7069198" y="9238325"/>
            <a:ext cx="866785" cy="42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3FDFB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6376" y="1083396"/>
            <a:ext cx="7780735" cy="2106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0"/>
              </a:lnSpc>
            </a:pPr>
            <a:r>
              <a:rPr lang="en-US" sz="8000" b="true">
                <a:solidFill>
                  <a:srgbClr val="F3FDFB"/>
                </a:solidFill>
                <a:latin typeface="DM Sans Bold"/>
                <a:ea typeface="DM Sans Bold"/>
                <a:cs typeface="DM Sans Bold"/>
                <a:sym typeface="DM Sans Bold"/>
              </a:rPr>
              <a:t>Problem Statement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63525" y="6637277"/>
            <a:ext cx="1427515" cy="712173"/>
            <a:chOff x="0" y="0"/>
            <a:chExt cx="375971" cy="18756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75971" cy="187568"/>
            </a:xfrm>
            <a:custGeom>
              <a:avLst/>
              <a:gdLst/>
              <a:ahLst/>
              <a:cxnLst/>
              <a:rect r="r" b="b" t="t" l="l"/>
              <a:pathLst>
                <a:path h="187568" w="375971">
                  <a:moveTo>
                    <a:pt x="93784" y="0"/>
                  </a:moveTo>
                  <a:lnTo>
                    <a:pt x="282187" y="0"/>
                  </a:lnTo>
                  <a:cubicBezTo>
                    <a:pt x="307060" y="0"/>
                    <a:pt x="330914" y="9881"/>
                    <a:pt x="348502" y="27469"/>
                  </a:cubicBezTo>
                  <a:cubicBezTo>
                    <a:pt x="366090" y="45057"/>
                    <a:pt x="375971" y="68911"/>
                    <a:pt x="375971" y="93784"/>
                  </a:cubicBezTo>
                  <a:lnTo>
                    <a:pt x="375971" y="93784"/>
                  </a:lnTo>
                  <a:cubicBezTo>
                    <a:pt x="375971" y="145580"/>
                    <a:pt x="333983" y="187568"/>
                    <a:pt x="282187" y="187568"/>
                  </a:cubicBezTo>
                  <a:lnTo>
                    <a:pt x="93784" y="187568"/>
                  </a:lnTo>
                  <a:cubicBezTo>
                    <a:pt x="41989" y="187568"/>
                    <a:pt x="0" y="145580"/>
                    <a:pt x="0" y="93784"/>
                  </a:cubicBezTo>
                  <a:lnTo>
                    <a:pt x="0" y="93784"/>
                  </a:lnTo>
                  <a:cubicBezTo>
                    <a:pt x="0" y="41989"/>
                    <a:pt x="41989" y="0"/>
                    <a:pt x="93784" y="0"/>
                  </a:cubicBezTo>
                  <a:close/>
                </a:path>
              </a:pathLst>
            </a:custGeom>
            <a:ln w="38100" cap="rnd">
              <a:solidFill>
                <a:srgbClr val="4D8B7E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375971" cy="235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69543" y="7588884"/>
            <a:ext cx="3890368" cy="1591140"/>
            <a:chOff x="0" y="0"/>
            <a:chExt cx="1024624" cy="41906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24624" cy="419066"/>
            </a:xfrm>
            <a:custGeom>
              <a:avLst/>
              <a:gdLst/>
              <a:ahLst/>
              <a:cxnLst/>
              <a:rect r="r" b="b" t="t" l="l"/>
              <a:pathLst>
                <a:path h="419066" w="1024624">
                  <a:moveTo>
                    <a:pt x="65671" y="0"/>
                  </a:moveTo>
                  <a:lnTo>
                    <a:pt x="958953" y="0"/>
                  </a:lnTo>
                  <a:cubicBezTo>
                    <a:pt x="995222" y="0"/>
                    <a:pt x="1024624" y="29402"/>
                    <a:pt x="1024624" y="65671"/>
                  </a:cubicBezTo>
                  <a:lnTo>
                    <a:pt x="1024624" y="353395"/>
                  </a:lnTo>
                  <a:cubicBezTo>
                    <a:pt x="1024624" y="389664"/>
                    <a:pt x="995222" y="419066"/>
                    <a:pt x="958953" y="419066"/>
                  </a:cubicBezTo>
                  <a:lnTo>
                    <a:pt x="65671" y="419066"/>
                  </a:lnTo>
                  <a:cubicBezTo>
                    <a:pt x="48254" y="419066"/>
                    <a:pt x="31550" y="412147"/>
                    <a:pt x="19235" y="399831"/>
                  </a:cubicBezTo>
                  <a:cubicBezTo>
                    <a:pt x="6919" y="387516"/>
                    <a:pt x="0" y="370812"/>
                    <a:pt x="0" y="353395"/>
                  </a:cubicBezTo>
                  <a:lnTo>
                    <a:pt x="0" y="65671"/>
                  </a:lnTo>
                  <a:cubicBezTo>
                    <a:pt x="0" y="48254"/>
                    <a:pt x="6919" y="31550"/>
                    <a:pt x="19235" y="19235"/>
                  </a:cubicBezTo>
                  <a:cubicBezTo>
                    <a:pt x="31550" y="6919"/>
                    <a:pt x="48254" y="0"/>
                    <a:pt x="65671" y="0"/>
                  </a:cubicBezTo>
                  <a:close/>
                </a:path>
              </a:pathLst>
            </a:custGeom>
            <a:ln w="38100" cap="rnd">
              <a:solidFill>
                <a:srgbClr val="4D8B7E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024624" cy="4666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65556" y="6760046"/>
            <a:ext cx="866785" cy="422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3FDFB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1574" y="7711354"/>
            <a:ext cx="3367986" cy="1298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Water-filled potholes are difficult to identify visually.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69543" y="3657052"/>
            <a:ext cx="1427515" cy="712173"/>
            <a:chOff x="0" y="0"/>
            <a:chExt cx="375971" cy="18756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75971" cy="187568"/>
            </a:xfrm>
            <a:custGeom>
              <a:avLst/>
              <a:gdLst/>
              <a:ahLst/>
              <a:cxnLst/>
              <a:rect r="r" b="b" t="t" l="l"/>
              <a:pathLst>
                <a:path h="187568" w="375971">
                  <a:moveTo>
                    <a:pt x="93784" y="0"/>
                  </a:moveTo>
                  <a:lnTo>
                    <a:pt x="282187" y="0"/>
                  </a:lnTo>
                  <a:cubicBezTo>
                    <a:pt x="307060" y="0"/>
                    <a:pt x="330914" y="9881"/>
                    <a:pt x="348502" y="27469"/>
                  </a:cubicBezTo>
                  <a:cubicBezTo>
                    <a:pt x="366090" y="45057"/>
                    <a:pt x="375971" y="68911"/>
                    <a:pt x="375971" y="93784"/>
                  </a:cubicBezTo>
                  <a:lnTo>
                    <a:pt x="375971" y="93784"/>
                  </a:lnTo>
                  <a:cubicBezTo>
                    <a:pt x="375971" y="145580"/>
                    <a:pt x="333983" y="187568"/>
                    <a:pt x="282187" y="187568"/>
                  </a:cubicBezTo>
                  <a:lnTo>
                    <a:pt x="93784" y="187568"/>
                  </a:lnTo>
                  <a:cubicBezTo>
                    <a:pt x="41989" y="187568"/>
                    <a:pt x="0" y="145580"/>
                    <a:pt x="0" y="93784"/>
                  </a:cubicBezTo>
                  <a:lnTo>
                    <a:pt x="0" y="93784"/>
                  </a:lnTo>
                  <a:cubicBezTo>
                    <a:pt x="0" y="41989"/>
                    <a:pt x="41989" y="0"/>
                    <a:pt x="93784" y="0"/>
                  </a:cubicBezTo>
                  <a:close/>
                </a:path>
              </a:pathLst>
            </a:custGeom>
            <a:ln w="38100" cap="rnd">
              <a:solidFill>
                <a:srgbClr val="4D8B7E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375971" cy="235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69543" y="4623461"/>
            <a:ext cx="4178140" cy="1774382"/>
            <a:chOff x="0" y="0"/>
            <a:chExt cx="1100416" cy="46732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00415" cy="467327"/>
            </a:xfrm>
            <a:custGeom>
              <a:avLst/>
              <a:gdLst/>
              <a:ahLst/>
              <a:cxnLst/>
              <a:rect r="r" b="b" t="t" l="l"/>
              <a:pathLst>
                <a:path h="467327" w="1100415">
                  <a:moveTo>
                    <a:pt x="61148" y="0"/>
                  </a:moveTo>
                  <a:lnTo>
                    <a:pt x="1039268" y="0"/>
                  </a:lnTo>
                  <a:cubicBezTo>
                    <a:pt x="1073039" y="0"/>
                    <a:pt x="1100415" y="27377"/>
                    <a:pt x="1100415" y="61148"/>
                  </a:cubicBezTo>
                  <a:lnTo>
                    <a:pt x="1100415" y="406179"/>
                  </a:lnTo>
                  <a:cubicBezTo>
                    <a:pt x="1100415" y="422397"/>
                    <a:pt x="1093973" y="437950"/>
                    <a:pt x="1082506" y="449417"/>
                  </a:cubicBezTo>
                  <a:cubicBezTo>
                    <a:pt x="1071038" y="460885"/>
                    <a:pt x="1055485" y="467327"/>
                    <a:pt x="1039268" y="467327"/>
                  </a:cubicBezTo>
                  <a:lnTo>
                    <a:pt x="61148" y="467327"/>
                  </a:lnTo>
                  <a:cubicBezTo>
                    <a:pt x="27377" y="467327"/>
                    <a:pt x="0" y="439950"/>
                    <a:pt x="0" y="406179"/>
                  </a:cubicBezTo>
                  <a:lnTo>
                    <a:pt x="0" y="61148"/>
                  </a:lnTo>
                  <a:cubicBezTo>
                    <a:pt x="0" y="44930"/>
                    <a:pt x="6442" y="29377"/>
                    <a:pt x="17910" y="17910"/>
                  </a:cubicBezTo>
                  <a:cubicBezTo>
                    <a:pt x="29377" y="6442"/>
                    <a:pt x="44930" y="0"/>
                    <a:pt x="61148" y="0"/>
                  </a:cubicBezTo>
                  <a:close/>
                </a:path>
              </a:pathLst>
            </a:custGeom>
            <a:ln w="38100" cap="rnd">
              <a:solidFill>
                <a:srgbClr val="4D8B7E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100416" cy="514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71574" y="3779821"/>
            <a:ext cx="866785" cy="422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3FDFB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71574" y="4837526"/>
            <a:ext cx="3514131" cy="1298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Manual pothole identification is time-consuming.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5350385" y="3658693"/>
            <a:ext cx="1427515" cy="712173"/>
            <a:chOff x="0" y="0"/>
            <a:chExt cx="375971" cy="18756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75971" cy="187568"/>
            </a:xfrm>
            <a:custGeom>
              <a:avLst/>
              <a:gdLst/>
              <a:ahLst/>
              <a:cxnLst/>
              <a:rect r="r" b="b" t="t" l="l"/>
              <a:pathLst>
                <a:path h="187568" w="375971">
                  <a:moveTo>
                    <a:pt x="93784" y="0"/>
                  </a:moveTo>
                  <a:lnTo>
                    <a:pt x="282187" y="0"/>
                  </a:lnTo>
                  <a:cubicBezTo>
                    <a:pt x="307060" y="0"/>
                    <a:pt x="330914" y="9881"/>
                    <a:pt x="348502" y="27469"/>
                  </a:cubicBezTo>
                  <a:cubicBezTo>
                    <a:pt x="366090" y="45057"/>
                    <a:pt x="375971" y="68911"/>
                    <a:pt x="375971" y="93784"/>
                  </a:cubicBezTo>
                  <a:lnTo>
                    <a:pt x="375971" y="93784"/>
                  </a:lnTo>
                  <a:cubicBezTo>
                    <a:pt x="375971" y="145580"/>
                    <a:pt x="333983" y="187568"/>
                    <a:pt x="282187" y="187568"/>
                  </a:cubicBezTo>
                  <a:lnTo>
                    <a:pt x="93784" y="187568"/>
                  </a:lnTo>
                  <a:cubicBezTo>
                    <a:pt x="41989" y="187568"/>
                    <a:pt x="0" y="145580"/>
                    <a:pt x="0" y="93784"/>
                  </a:cubicBezTo>
                  <a:lnTo>
                    <a:pt x="0" y="93784"/>
                  </a:lnTo>
                  <a:cubicBezTo>
                    <a:pt x="0" y="41989"/>
                    <a:pt x="41989" y="0"/>
                    <a:pt x="93784" y="0"/>
                  </a:cubicBezTo>
                  <a:close/>
                </a:path>
              </a:pathLst>
            </a:custGeom>
            <a:ln w="38100" cap="rnd">
              <a:solidFill>
                <a:srgbClr val="4D8B7E"/>
              </a:soli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375971" cy="235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350385" y="4623461"/>
            <a:ext cx="4249525" cy="1774382"/>
            <a:chOff x="0" y="0"/>
            <a:chExt cx="1119216" cy="46732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19216" cy="467327"/>
            </a:xfrm>
            <a:custGeom>
              <a:avLst/>
              <a:gdLst/>
              <a:ahLst/>
              <a:cxnLst/>
              <a:rect r="r" b="b" t="t" l="l"/>
              <a:pathLst>
                <a:path h="467327" w="1119216">
                  <a:moveTo>
                    <a:pt x="60120" y="0"/>
                  </a:moveTo>
                  <a:lnTo>
                    <a:pt x="1059096" y="0"/>
                  </a:lnTo>
                  <a:cubicBezTo>
                    <a:pt x="1092300" y="0"/>
                    <a:pt x="1119216" y="26917"/>
                    <a:pt x="1119216" y="60120"/>
                  </a:cubicBezTo>
                  <a:lnTo>
                    <a:pt x="1119216" y="407206"/>
                  </a:lnTo>
                  <a:cubicBezTo>
                    <a:pt x="1119216" y="440410"/>
                    <a:pt x="1092300" y="467327"/>
                    <a:pt x="1059096" y="467327"/>
                  </a:cubicBezTo>
                  <a:lnTo>
                    <a:pt x="60120" y="467327"/>
                  </a:lnTo>
                  <a:cubicBezTo>
                    <a:pt x="26917" y="467327"/>
                    <a:pt x="0" y="440410"/>
                    <a:pt x="0" y="407206"/>
                  </a:cubicBezTo>
                  <a:lnTo>
                    <a:pt x="0" y="60120"/>
                  </a:lnTo>
                  <a:cubicBezTo>
                    <a:pt x="0" y="26917"/>
                    <a:pt x="26917" y="0"/>
                    <a:pt x="60120" y="0"/>
                  </a:cubicBezTo>
                  <a:close/>
                </a:path>
              </a:pathLst>
            </a:custGeom>
            <a:ln w="38100" cap="rnd">
              <a:solidFill>
                <a:srgbClr val="4D8B7E"/>
              </a:solidFill>
              <a:prstDash val="solid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119216" cy="514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5652416" y="3781463"/>
            <a:ext cx="866785" cy="422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3FDFB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02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652416" y="4837526"/>
            <a:ext cx="3844008" cy="1298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Delayed detection and maintenance increase road safety risks.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515394" y="1824389"/>
            <a:ext cx="5987197" cy="457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78E8C5"/>
                </a:solidFill>
                <a:latin typeface="DM Sans"/>
                <a:ea typeface="DM Sans"/>
                <a:cs typeface="DM Sans"/>
                <a:sym typeface="DM Sans"/>
              </a:rPr>
              <a:t>Our Solution:</a:t>
            </a:r>
            <a:r>
              <a:rPr lang="en-US" sz="36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Develop an loT-based system that detects potholes, estimates their severity, identifies water presence, and supports maintenance tracking.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5372051" y="6637277"/>
            <a:ext cx="1427515" cy="712173"/>
            <a:chOff x="0" y="0"/>
            <a:chExt cx="375971" cy="18756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75971" cy="187568"/>
            </a:xfrm>
            <a:custGeom>
              <a:avLst/>
              <a:gdLst/>
              <a:ahLst/>
              <a:cxnLst/>
              <a:rect r="r" b="b" t="t" l="l"/>
              <a:pathLst>
                <a:path h="187568" w="375971">
                  <a:moveTo>
                    <a:pt x="93784" y="0"/>
                  </a:moveTo>
                  <a:lnTo>
                    <a:pt x="282187" y="0"/>
                  </a:lnTo>
                  <a:cubicBezTo>
                    <a:pt x="307060" y="0"/>
                    <a:pt x="330914" y="9881"/>
                    <a:pt x="348502" y="27469"/>
                  </a:cubicBezTo>
                  <a:cubicBezTo>
                    <a:pt x="366090" y="45057"/>
                    <a:pt x="375971" y="68911"/>
                    <a:pt x="375971" y="93784"/>
                  </a:cubicBezTo>
                  <a:lnTo>
                    <a:pt x="375971" y="93784"/>
                  </a:lnTo>
                  <a:cubicBezTo>
                    <a:pt x="375971" y="145580"/>
                    <a:pt x="333983" y="187568"/>
                    <a:pt x="282187" y="187568"/>
                  </a:cubicBezTo>
                  <a:lnTo>
                    <a:pt x="93784" y="187568"/>
                  </a:lnTo>
                  <a:cubicBezTo>
                    <a:pt x="41989" y="187568"/>
                    <a:pt x="0" y="145580"/>
                    <a:pt x="0" y="93784"/>
                  </a:cubicBezTo>
                  <a:lnTo>
                    <a:pt x="0" y="93784"/>
                  </a:lnTo>
                  <a:cubicBezTo>
                    <a:pt x="0" y="41989"/>
                    <a:pt x="41989" y="0"/>
                    <a:pt x="93784" y="0"/>
                  </a:cubicBezTo>
                  <a:close/>
                </a:path>
              </a:pathLst>
            </a:custGeom>
            <a:ln w="38100" cap="rnd">
              <a:solidFill>
                <a:srgbClr val="4D8B7E"/>
              </a:solidFill>
              <a:prstDash val="solid"/>
              <a:round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375971" cy="235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350385" y="7604996"/>
            <a:ext cx="5107513" cy="1591140"/>
            <a:chOff x="0" y="0"/>
            <a:chExt cx="1345189" cy="41906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345189" cy="419066"/>
            </a:xfrm>
            <a:custGeom>
              <a:avLst/>
              <a:gdLst/>
              <a:ahLst/>
              <a:cxnLst/>
              <a:rect r="r" b="b" t="t" l="l"/>
              <a:pathLst>
                <a:path h="419066" w="1345189">
                  <a:moveTo>
                    <a:pt x="50021" y="0"/>
                  </a:moveTo>
                  <a:lnTo>
                    <a:pt x="1295167" y="0"/>
                  </a:lnTo>
                  <a:cubicBezTo>
                    <a:pt x="1322793" y="0"/>
                    <a:pt x="1345189" y="22395"/>
                    <a:pt x="1345189" y="50021"/>
                  </a:cubicBezTo>
                  <a:lnTo>
                    <a:pt x="1345189" y="369045"/>
                  </a:lnTo>
                  <a:cubicBezTo>
                    <a:pt x="1345189" y="396671"/>
                    <a:pt x="1322793" y="419066"/>
                    <a:pt x="1295167" y="419066"/>
                  </a:cubicBezTo>
                  <a:lnTo>
                    <a:pt x="50021" y="419066"/>
                  </a:lnTo>
                  <a:cubicBezTo>
                    <a:pt x="22395" y="419066"/>
                    <a:pt x="0" y="396671"/>
                    <a:pt x="0" y="369045"/>
                  </a:cubicBezTo>
                  <a:lnTo>
                    <a:pt x="0" y="50021"/>
                  </a:lnTo>
                  <a:cubicBezTo>
                    <a:pt x="0" y="22395"/>
                    <a:pt x="22395" y="0"/>
                    <a:pt x="50021" y="0"/>
                  </a:cubicBezTo>
                  <a:close/>
                </a:path>
              </a:pathLst>
            </a:custGeom>
            <a:ln w="38100" cap="rnd">
              <a:solidFill>
                <a:srgbClr val="4D8B7E"/>
              </a:solidFill>
              <a:prstDash val="solid"/>
              <a:round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345189" cy="4666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5674082" y="6760046"/>
            <a:ext cx="866785" cy="422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3FDFB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04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652416" y="7720925"/>
            <a:ext cx="4805482" cy="1298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Lack of continuous monitoring makes maintenance planning challenging.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l="-2227" t="-1052" r="0" b="-105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660563"/>
            <a:ext cx="18288000" cy="626437"/>
            <a:chOff x="0" y="0"/>
            <a:chExt cx="4816593" cy="1649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64987"/>
            </a:xfrm>
            <a:custGeom>
              <a:avLst/>
              <a:gdLst/>
              <a:ahLst/>
              <a:cxnLst/>
              <a:rect r="r" b="b" t="t" l="l"/>
              <a:pathLst>
                <a:path h="1649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4987"/>
                  </a:lnTo>
                  <a:lnTo>
                    <a:pt x="0" y="164987"/>
                  </a:lnTo>
                  <a:close/>
                </a:path>
              </a:pathLst>
            </a:custGeom>
            <a:solidFill>
              <a:srgbClr val="4D8B7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030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15497053" y="7496053"/>
            <a:ext cx="2416870" cy="3165024"/>
            <a:chOff x="0" y="0"/>
            <a:chExt cx="571500" cy="7484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71500" cy="748411"/>
            </a:xfrm>
            <a:custGeom>
              <a:avLst/>
              <a:gdLst/>
              <a:ahLst/>
              <a:cxnLst/>
              <a:rect r="r" b="b" t="t" l="l"/>
              <a:pathLst>
                <a:path h="748411" w="571500">
                  <a:moveTo>
                    <a:pt x="571500" y="748411"/>
                  </a:moveTo>
                  <a:lnTo>
                    <a:pt x="0" y="748411"/>
                  </a:lnTo>
                  <a:lnTo>
                    <a:pt x="0" y="0"/>
                  </a:lnTo>
                  <a:lnTo>
                    <a:pt x="571500" y="748411"/>
                  </a:lnTo>
                  <a:close/>
                </a:path>
              </a:pathLst>
            </a:custGeom>
            <a:solidFill>
              <a:srgbClr val="4D8B7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336105"/>
              <a:ext cx="285750" cy="410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1028700" y="4994295"/>
            <a:ext cx="9059936" cy="0"/>
          </a:xfrm>
          <a:prstGeom prst="line">
            <a:avLst/>
          </a:prstGeom>
          <a:ln cap="flat" w="38100">
            <a:solidFill>
              <a:srgbClr val="4D8B7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1028700" y="5773523"/>
            <a:ext cx="9059936" cy="0"/>
          </a:xfrm>
          <a:prstGeom prst="line">
            <a:avLst/>
          </a:prstGeom>
          <a:ln cap="flat" w="38100">
            <a:solidFill>
              <a:srgbClr val="4D8B7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028700" y="6558702"/>
            <a:ext cx="9059936" cy="0"/>
          </a:xfrm>
          <a:prstGeom prst="line">
            <a:avLst/>
          </a:prstGeom>
          <a:ln cap="flat" w="38100">
            <a:solidFill>
              <a:srgbClr val="4D8B7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028700" y="7373195"/>
            <a:ext cx="9059936" cy="0"/>
          </a:xfrm>
          <a:prstGeom prst="line">
            <a:avLst/>
          </a:prstGeom>
          <a:ln cap="flat" w="38100">
            <a:solidFill>
              <a:srgbClr val="4D8B7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1028700" y="4213330"/>
            <a:ext cx="9059936" cy="0"/>
          </a:xfrm>
          <a:prstGeom prst="line">
            <a:avLst/>
          </a:prstGeom>
          <a:ln cap="flat" w="38100">
            <a:solidFill>
              <a:srgbClr val="4D8B7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028700" y="3432364"/>
            <a:ext cx="9059936" cy="0"/>
          </a:xfrm>
          <a:prstGeom prst="line">
            <a:avLst/>
          </a:prstGeom>
          <a:ln cap="flat" w="38100">
            <a:solidFill>
              <a:srgbClr val="4D8B7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028700" y="8154082"/>
            <a:ext cx="9059936" cy="0"/>
          </a:xfrm>
          <a:prstGeom prst="line">
            <a:avLst/>
          </a:prstGeom>
          <a:ln cap="flat" w="38100">
            <a:solidFill>
              <a:srgbClr val="4D8B7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0603957" y="2242551"/>
            <a:ext cx="6133556" cy="6070848"/>
            <a:chOff x="0" y="0"/>
            <a:chExt cx="950248" cy="94053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50248" cy="940533"/>
            </a:xfrm>
            <a:custGeom>
              <a:avLst/>
              <a:gdLst/>
              <a:ahLst/>
              <a:cxnLst/>
              <a:rect r="r" b="b" t="t" l="l"/>
              <a:pathLst>
                <a:path h="940533" w="950248">
                  <a:moveTo>
                    <a:pt x="29031" y="0"/>
                  </a:moveTo>
                  <a:lnTo>
                    <a:pt x="921217" y="0"/>
                  </a:lnTo>
                  <a:cubicBezTo>
                    <a:pt x="928917" y="0"/>
                    <a:pt x="936301" y="3059"/>
                    <a:pt x="941745" y="8503"/>
                  </a:cubicBezTo>
                  <a:cubicBezTo>
                    <a:pt x="947190" y="13947"/>
                    <a:pt x="950248" y="21332"/>
                    <a:pt x="950248" y="29031"/>
                  </a:cubicBezTo>
                  <a:lnTo>
                    <a:pt x="950248" y="911502"/>
                  </a:lnTo>
                  <a:cubicBezTo>
                    <a:pt x="950248" y="919202"/>
                    <a:pt x="947190" y="926586"/>
                    <a:pt x="941745" y="932030"/>
                  </a:cubicBezTo>
                  <a:cubicBezTo>
                    <a:pt x="936301" y="937475"/>
                    <a:pt x="928917" y="940533"/>
                    <a:pt x="921217" y="940533"/>
                  </a:cubicBezTo>
                  <a:lnTo>
                    <a:pt x="29031" y="940533"/>
                  </a:lnTo>
                  <a:cubicBezTo>
                    <a:pt x="21332" y="940533"/>
                    <a:pt x="13947" y="937475"/>
                    <a:pt x="8503" y="932030"/>
                  </a:cubicBezTo>
                  <a:cubicBezTo>
                    <a:pt x="3059" y="926586"/>
                    <a:pt x="0" y="919202"/>
                    <a:pt x="0" y="911502"/>
                  </a:cubicBezTo>
                  <a:lnTo>
                    <a:pt x="0" y="29031"/>
                  </a:lnTo>
                  <a:cubicBezTo>
                    <a:pt x="0" y="21332"/>
                    <a:pt x="3059" y="13947"/>
                    <a:pt x="8503" y="8503"/>
                  </a:cubicBezTo>
                  <a:cubicBezTo>
                    <a:pt x="13947" y="3059"/>
                    <a:pt x="21332" y="0"/>
                    <a:pt x="29031" y="0"/>
                  </a:cubicBezTo>
                  <a:close/>
                </a:path>
              </a:pathLst>
            </a:custGeom>
            <a:blipFill>
              <a:blip r:embed="rId3"/>
              <a:stretch>
                <a:fillRect l="-3390" t="0" r="-339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7069198" y="9238325"/>
            <a:ext cx="866785" cy="42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3FDFB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1164321"/>
            <a:ext cx="7780735" cy="1078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0"/>
              </a:lnSpc>
            </a:pPr>
            <a:r>
              <a:rPr lang="en-US" sz="8000" b="true">
                <a:solidFill>
                  <a:srgbClr val="F3FDFB"/>
                </a:solidFill>
                <a:latin typeface="DM Sans Bold"/>
                <a:ea typeface="DM Sans Bold"/>
                <a:cs typeface="DM Sans Bold"/>
                <a:sym typeface="DM Sans Bold"/>
              </a:rPr>
              <a:t>Objectives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4347623"/>
            <a:ext cx="916925" cy="45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2"/>
              </a:lnSpc>
            </a:pPr>
            <a:r>
              <a:rPr lang="en-US" b="true" sz="2644">
                <a:solidFill>
                  <a:srgbClr val="F3FDFB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5128589"/>
            <a:ext cx="916925" cy="45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2"/>
              </a:lnSpc>
            </a:pPr>
            <a:r>
              <a:rPr lang="en-US" b="true" sz="2644">
                <a:solidFill>
                  <a:srgbClr val="F3FDFB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5913768"/>
            <a:ext cx="916925" cy="45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2"/>
              </a:lnSpc>
            </a:pPr>
            <a:r>
              <a:rPr lang="en-US" b="true" sz="2644">
                <a:solidFill>
                  <a:srgbClr val="F3FDFB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6692995"/>
            <a:ext cx="916925" cy="45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2"/>
              </a:lnSpc>
            </a:pPr>
            <a:r>
              <a:rPr lang="en-US" b="true" sz="2644">
                <a:solidFill>
                  <a:srgbClr val="F3FDFB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7509148"/>
            <a:ext cx="916925" cy="45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2"/>
              </a:lnSpc>
            </a:pPr>
            <a:r>
              <a:rPr lang="en-US" b="true" sz="2644">
                <a:solidFill>
                  <a:srgbClr val="F3FDFB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07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417148" y="4357148"/>
            <a:ext cx="7862827" cy="4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2"/>
              </a:lnSpc>
            </a:pPr>
            <a:r>
              <a:rPr lang="en-US" sz="2644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Identify water presence using a moisture sensor.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417148" y="5138114"/>
            <a:ext cx="7671488" cy="4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2"/>
              </a:lnSpc>
            </a:pPr>
            <a:r>
              <a:rPr lang="en-US" sz="2644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Estimate vehicle speed using a magnetic sensor.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417148" y="5917342"/>
            <a:ext cx="5819456" cy="4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2"/>
              </a:lnSpc>
            </a:pPr>
            <a:r>
              <a:rPr lang="en-US" sz="2644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Location information through GPS.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417148" y="6737786"/>
            <a:ext cx="6842367" cy="4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2"/>
              </a:lnSpc>
            </a:pPr>
            <a:r>
              <a:rPr lang="en-US" sz="2644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Sensor readings on a web dashboard.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417148" y="7517014"/>
            <a:ext cx="7387625" cy="4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2"/>
              </a:lnSpc>
            </a:pPr>
            <a:r>
              <a:rPr lang="en-US" sz="2644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Maintenance alerts and track repair status.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8700" y="3566657"/>
            <a:ext cx="916925" cy="45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2"/>
              </a:lnSpc>
            </a:pPr>
            <a:r>
              <a:rPr lang="en-US" b="true" sz="2644">
                <a:solidFill>
                  <a:srgbClr val="F3FDFB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417148" y="3576182"/>
            <a:ext cx="7196285" cy="4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2"/>
              </a:lnSpc>
            </a:pPr>
            <a:r>
              <a:rPr lang="en-US" sz="2644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Estimate pothole depth and classify severity.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8700" y="2787430"/>
            <a:ext cx="916925" cy="453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2"/>
              </a:lnSpc>
            </a:pPr>
            <a:r>
              <a:rPr lang="en-US" b="true" sz="2644">
                <a:solidFill>
                  <a:srgbClr val="F3FDFB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417148" y="2796955"/>
            <a:ext cx="7196285" cy="4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2"/>
              </a:lnSpc>
            </a:pPr>
            <a:r>
              <a:rPr lang="en-US" sz="2644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Detect potholes using an ultrasonic sensor.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04839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05150" y="-2669093"/>
            <a:ext cx="13822929" cy="13339127"/>
          </a:xfrm>
          <a:custGeom>
            <a:avLst/>
            <a:gdLst/>
            <a:ahLst/>
            <a:cxnLst/>
            <a:rect r="r" b="b" t="t" l="l"/>
            <a:pathLst>
              <a:path h="13339127" w="13822929">
                <a:moveTo>
                  <a:pt x="0" y="0"/>
                </a:moveTo>
                <a:lnTo>
                  <a:pt x="13822930" y="0"/>
                </a:lnTo>
                <a:lnTo>
                  <a:pt x="13822930" y="13339127"/>
                </a:lnTo>
                <a:lnTo>
                  <a:pt x="0" y="133391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660563"/>
            <a:ext cx="18288000" cy="626437"/>
            <a:chOff x="0" y="0"/>
            <a:chExt cx="4816593" cy="1649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64987"/>
            </a:xfrm>
            <a:custGeom>
              <a:avLst/>
              <a:gdLst/>
              <a:ahLst/>
              <a:cxnLst/>
              <a:rect r="r" b="b" t="t" l="l"/>
              <a:pathLst>
                <a:path h="1649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4987"/>
                  </a:lnTo>
                  <a:lnTo>
                    <a:pt x="0" y="164987"/>
                  </a:lnTo>
                  <a:close/>
                </a:path>
              </a:pathLst>
            </a:custGeom>
            <a:solidFill>
              <a:srgbClr val="4D8B7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030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15497053" y="7496053"/>
            <a:ext cx="2416870" cy="3165024"/>
            <a:chOff x="0" y="0"/>
            <a:chExt cx="571500" cy="7484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71500" cy="748411"/>
            </a:xfrm>
            <a:custGeom>
              <a:avLst/>
              <a:gdLst/>
              <a:ahLst/>
              <a:cxnLst/>
              <a:rect r="r" b="b" t="t" l="l"/>
              <a:pathLst>
                <a:path h="748411" w="571500">
                  <a:moveTo>
                    <a:pt x="571500" y="748411"/>
                  </a:moveTo>
                  <a:lnTo>
                    <a:pt x="0" y="748411"/>
                  </a:lnTo>
                  <a:lnTo>
                    <a:pt x="0" y="0"/>
                  </a:lnTo>
                  <a:lnTo>
                    <a:pt x="571500" y="748411"/>
                  </a:lnTo>
                  <a:close/>
                </a:path>
              </a:pathLst>
            </a:custGeom>
            <a:solidFill>
              <a:srgbClr val="4D8B7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336105"/>
              <a:ext cx="285750" cy="410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>
            <a:off x="1042988" y="2362292"/>
            <a:ext cx="4728816" cy="3093363"/>
          </a:xfrm>
          <a:custGeom>
            <a:avLst/>
            <a:gdLst/>
            <a:ahLst/>
            <a:cxnLst/>
            <a:rect r="r" b="b" t="t" l="l"/>
            <a:pathLst>
              <a:path h="3093363" w="4728816">
                <a:moveTo>
                  <a:pt x="1742326" y="370970"/>
                </a:moveTo>
                <a:lnTo>
                  <a:pt x="1141014" y="370970"/>
                </a:lnTo>
                <a:cubicBezTo>
                  <a:pt x="1038574" y="370970"/>
                  <a:pt x="955529" y="287926"/>
                  <a:pt x="955529" y="185485"/>
                </a:cubicBezTo>
                <a:lnTo>
                  <a:pt x="955529" y="185485"/>
                </a:lnTo>
                <a:cubicBezTo>
                  <a:pt x="955529" y="136292"/>
                  <a:pt x="935987" y="89113"/>
                  <a:pt x="901202" y="54327"/>
                </a:cubicBezTo>
                <a:cubicBezTo>
                  <a:pt x="866417" y="19542"/>
                  <a:pt x="819238" y="0"/>
                  <a:pt x="770044" y="0"/>
                </a:cubicBezTo>
                <a:lnTo>
                  <a:pt x="190500" y="0"/>
                </a:lnTo>
                <a:cubicBezTo>
                  <a:pt x="85289" y="0"/>
                  <a:pt x="0" y="85290"/>
                  <a:pt x="0" y="190500"/>
                </a:cubicBezTo>
                <a:lnTo>
                  <a:pt x="0" y="2902863"/>
                </a:lnTo>
                <a:cubicBezTo>
                  <a:pt x="0" y="3008073"/>
                  <a:pt x="85289" y="3093363"/>
                  <a:pt x="190500" y="3093363"/>
                </a:cubicBezTo>
                <a:lnTo>
                  <a:pt x="4538316" y="3093363"/>
                </a:lnTo>
                <a:cubicBezTo>
                  <a:pt x="4588839" y="3093363"/>
                  <a:pt x="4637294" y="3073292"/>
                  <a:pt x="4673019" y="3037567"/>
                </a:cubicBezTo>
                <a:cubicBezTo>
                  <a:pt x="4708745" y="3001841"/>
                  <a:pt x="4728816" y="2953387"/>
                  <a:pt x="4728816" y="2902863"/>
                </a:cubicBezTo>
                <a:lnTo>
                  <a:pt x="4728816" y="561470"/>
                </a:lnTo>
                <a:cubicBezTo>
                  <a:pt x="4728816" y="456260"/>
                  <a:pt x="4643526" y="370970"/>
                  <a:pt x="4538316" y="370970"/>
                </a:cubicBezTo>
                <a:lnTo>
                  <a:pt x="1995715" y="370970"/>
                </a:lnTo>
              </a:path>
            </a:pathLst>
          </a:custGeom>
          <a:ln cap="flat" w="28575">
            <a:solidFill>
              <a:srgbClr val="4D8B7E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10" id="10"/>
          <p:cNvSpPr/>
          <p:nvPr/>
        </p:nvSpPr>
        <p:spPr>
          <a:xfrm>
            <a:off x="1042988" y="5837817"/>
            <a:ext cx="4728816" cy="3093364"/>
          </a:xfrm>
          <a:custGeom>
            <a:avLst/>
            <a:gdLst/>
            <a:ahLst/>
            <a:cxnLst/>
            <a:rect r="r" b="b" t="t" l="l"/>
            <a:pathLst>
              <a:path h="3093364" w="4728816">
                <a:moveTo>
                  <a:pt x="1742326" y="370970"/>
                </a:moveTo>
                <a:lnTo>
                  <a:pt x="1141014" y="370970"/>
                </a:lnTo>
                <a:cubicBezTo>
                  <a:pt x="1038574" y="370970"/>
                  <a:pt x="955529" y="287926"/>
                  <a:pt x="955529" y="185485"/>
                </a:cubicBezTo>
                <a:lnTo>
                  <a:pt x="955529" y="185485"/>
                </a:lnTo>
                <a:cubicBezTo>
                  <a:pt x="955529" y="83044"/>
                  <a:pt x="872485" y="0"/>
                  <a:pt x="770044" y="0"/>
                </a:cubicBezTo>
                <a:lnTo>
                  <a:pt x="190500" y="0"/>
                </a:lnTo>
                <a:cubicBezTo>
                  <a:pt x="139976" y="0"/>
                  <a:pt x="91521" y="20070"/>
                  <a:pt x="55796" y="55796"/>
                </a:cubicBezTo>
                <a:cubicBezTo>
                  <a:pt x="20070" y="91522"/>
                  <a:pt x="0" y="139976"/>
                  <a:pt x="0" y="190500"/>
                </a:cubicBezTo>
                <a:lnTo>
                  <a:pt x="0" y="2902863"/>
                </a:lnTo>
                <a:cubicBezTo>
                  <a:pt x="0" y="3008074"/>
                  <a:pt x="85289" y="3093363"/>
                  <a:pt x="190500" y="3093363"/>
                </a:cubicBezTo>
                <a:lnTo>
                  <a:pt x="4538316" y="3093363"/>
                </a:lnTo>
                <a:cubicBezTo>
                  <a:pt x="4588839" y="3093363"/>
                  <a:pt x="4637294" y="3073293"/>
                  <a:pt x="4673019" y="3037568"/>
                </a:cubicBezTo>
                <a:cubicBezTo>
                  <a:pt x="4708745" y="3001842"/>
                  <a:pt x="4728816" y="2953387"/>
                  <a:pt x="4728816" y="2902863"/>
                </a:cubicBezTo>
                <a:lnTo>
                  <a:pt x="4728816" y="561470"/>
                </a:lnTo>
                <a:cubicBezTo>
                  <a:pt x="4728816" y="456260"/>
                  <a:pt x="4643526" y="370970"/>
                  <a:pt x="4538316" y="370970"/>
                </a:cubicBezTo>
                <a:lnTo>
                  <a:pt x="1995715" y="370970"/>
                </a:lnTo>
              </a:path>
            </a:pathLst>
          </a:custGeom>
          <a:ln cap="flat" w="28575">
            <a:solidFill>
              <a:srgbClr val="4D8B7E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11" id="11"/>
          <p:cNvSpPr/>
          <p:nvPr/>
        </p:nvSpPr>
        <p:spPr>
          <a:xfrm>
            <a:off x="6301948" y="5929276"/>
            <a:ext cx="4728816" cy="3093364"/>
          </a:xfrm>
          <a:custGeom>
            <a:avLst/>
            <a:gdLst/>
            <a:ahLst/>
            <a:cxnLst/>
            <a:rect r="r" b="b" t="t" l="l"/>
            <a:pathLst>
              <a:path h="3093364" w="4728816">
                <a:moveTo>
                  <a:pt x="1742326" y="370971"/>
                </a:moveTo>
                <a:lnTo>
                  <a:pt x="1141015" y="370971"/>
                </a:lnTo>
                <a:cubicBezTo>
                  <a:pt x="1038574" y="370971"/>
                  <a:pt x="955529" y="287926"/>
                  <a:pt x="955529" y="185486"/>
                </a:cubicBezTo>
                <a:lnTo>
                  <a:pt x="955529" y="185486"/>
                </a:lnTo>
                <a:cubicBezTo>
                  <a:pt x="955529" y="83045"/>
                  <a:pt x="872485" y="0"/>
                  <a:pt x="770044" y="0"/>
                </a:cubicBezTo>
                <a:lnTo>
                  <a:pt x="190500" y="0"/>
                </a:lnTo>
                <a:cubicBezTo>
                  <a:pt x="139976" y="0"/>
                  <a:pt x="91522" y="20071"/>
                  <a:pt x="55796" y="55797"/>
                </a:cubicBezTo>
                <a:cubicBezTo>
                  <a:pt x="20070" y="91522"/>
                  <a:pt x="0" y="139977"/>
                  <a:pt x="0" y="190500"/>
                </a:cubicBezTo>
                <a:lnTo>
                  <a:pt x="0" y="2902864"/>
                </a:lnTo>
                <a:cubicBezTo>
                  <a:pt x="0" y="2953388"/>
                  <a:pt x="20070" y="3001842"/>
                  <a:pt x="55796" y="3037568"/>
                </a:cubicBezTo>
                <a:cubicBezTo>
                  <a:pt x="91522" y="3073294"/>
                  <a:pt x="139976" y="3093364"/>
                  <a:pt x="190500" y="3093364"/>
                </a:cubicBezTo>
                <a:lnTo>
                  <a:pt x="4538316" y="3093364"/>
                </a:lnTo>
                <a:cubicBezTo>
                  <a:pt x="4643527" y="3093364"/>
                  <a:pt x="4728816" y="3008075"/>
                  <a:pt x="4728816" y="2902864"/>
                </a:cubicBezTo>
                <a:lnTo>
                  <a:pt x="4728816" y="561471"/>
                </a:lnTo>
                <a:cubicBezTo>
                  <a:pt x="4728816" y="510947"/>
                  <a:pt x="4708746" y="462493"/>
                  <a:pt x="4673020" y="426767"/>
                </a:cubicBezTo>
                <a:cubicBezTo>
                  <a:pt x="4637294" y="391041"/>
                  <a:pt x="4588840" y="370971"/>
                  <a:pt x="4538316" y="370971"/>
                </a:cubicBezTo>
                <a:lnTo>
                  <a:pt x="1995715" y="370971"/>
                </a:lnTo>
              </a:path>
            </a:pathLst>
          </a:custGeom>
          <a:ln cap="flat" w="28575">
            <a:solidFill>
              <a:srgbClr val="4D8B7E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12" id="12"/>
          <p:cNvSpPr/>
          <p:nvPr/>
        </p:nvSpPr>
        <p:spPr>
          <a:xfrm>
            <a:off x="11557157" y="6025430"/>
            <a:ext cx="4728816" cy="3093363"/>
          </a:xfrm>
          <a:custGeom>
            <a:avLst/>
            <a:gdLst/>
            <a:ahLst/>
            <a:cxnLst/>
            <a:rect r="r" b="b" t="t" l="l"/>
            <a:pathLst>
              <a:path h="3093363" w="4728816">
                <a:moveTo>
                  <a:pt x="1742327" y="370970"/>
                </a:moveTo>
                <a:lnTo>
                  <a:pt x="1141016" y="370970"/>
                </a:lnTo>
                <a:cubicBezTo>
                  <a:pt x="1038575" y="370970"/>
                  <a:pt x="955530" y="287926"/>
                  <a:pt x="955530" y="185485"/>
                </a:cubicBezTo>
                <a:lnTo>
                  <a:pt x="955530" y="185485"/>
                </a:lnTo>
                <a:cubicBezTo>
                  <a:pt x="955530" y="83044"/>
                  <a:pt x="872486" y="0"/>
                  <a:pt x="770046" y="0"/>
                </a:cubicBezTo>
                <a:lnTo>
                  <a:pt x="190500" y="0"/>
                </a:lnTo>
                <a:cubicBezTo>
                  <a:pt x="85290" y="0"/>
                  <a:pt x="0" y="85290"/>
                  <a:pt x="0" y="190500"/>
                </a:cubicBezTo>
                <a:lnTo>
                  <a:pt x="0" y="2902863"/>
                </a:lnTo>
                <a:cubicBezTo>
                  <a:pt x="0" y="3008074"/>
                  <a:pt x="85290" y="3093363"/>
                  <a:pt x="190500" y="3093363"/>
                </a:cubicBezTo>
                <a:lnTo>
                  <a:pt x="4538316" y="3093363"/>
                </a:lnTo>
                <a:cubicBezTo>
                  <a:pt x="4588840" y="3093363"/>
                  <a:pt x="4637295" y="3073293"/>
                  <a:pt x="4673020" y="3037567"/>
                </a:cubicBezTo>
                <a:cubicBezTo>
                  <a:pt x="4708746" y="3001841"/>
                  <a:pt x="4728816" y="2953387"/>
                  <a:pt x="4728816" y="2902863"/>
                </a:cubicBezTo>
                <a:lnTo>
                  <a:pt x="4728816" y="561470"/>
                </a:lnTo>
                <a:cubicBezTo>
                  <a:pt x="4728816" y="510946"/>
                  <a:pt x="4708746" y="462492"/>
                  <a:pt x="4673020" y="426766"/>
                </a:cubicBezTo>
                <a:cubicBezTo>
                  <a:pt x="4637295" y="391041"/>
                  <a:pt x="4588840" y="370970"/>
                  <a:pt x="4538316" y="370970"/>
                </a:cubicBezTo>
                <a:lnTo>
                  <a:pt x="1995717" y="370970"/>
                </a:lnTo>
              </a:path>
            </a:pathLst>
          </a:custGeom>
          <a:ln cap="flat" w="28575">
            <a:solidFill>
              <a:srgbClr val="4D8B7E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13" id="13"/>
          <p:cNvSpPr/>
          <p:nvPr/>
        </p:nvSpPr>
        <p:spPr>
          <a:xfrm>
            <a:off x="6454348" y="2453752"/>
            <a:ext cx="4728816" cy="3093363"/>
          </a:xfrm>
          <a:custGeom>
            <a:avLst/>
            <a:gdLst/>
            <a:ahLst/>
            <a:cxnLst/>
            <a:rect r="r" b="b" t="t" l="l"/>
            <a:pathLst>
              <a:path h="3093363" w="4728816">
                <a:moveTo>
                  <a:pt x="1742326" y="370970"/>
                </a:moveTo>
                <a:lnTo>
                  <a:pt x="1141015" y="370970"/>
                </a:lnTo>
                <a:cubicBezTo>
                  <a:pt x="1038574" y="370970"/>
                  <a:pt x="955529" y="287925"/>
                  <a:pt x="955529" y="185485"/>
                </a:cubicBezTo>
                <a:lnTo>
                  <a:pt x="955529" y="185485"/>
                </a:lnTo>
                <a:cubicBezTo>
                  <a:pt x="955529" y="83044"/>
                  <a:pt x="872485" y="0"/>
                  <a:pt x="770044" y="0"/>
                </a:cubicBezTo>
                <a:lnTo>
                  <a:pt x="190500" y="0"/>
                </a:lnTo>
                <a:cubicBezTo>
                  <a:pt x="85290" y="0"/>
                  <a:pt x="0" y="85289"/>
                  <a:pt x="0" y="190500"/>
                </a:cubicBezTo>
                <a:lnTo>
                  <a:pt x="0" y="2902863"/>
                </a:lnTo>
                <a:cubicBezTo>
                  <a:pt x="0" y="3008073"/>
                  <a:pt x="85290" y="3093363"/>
                  <a:pt x="190500" y="3093363"/>
                </a:cubicBezTo>
                <a:lnTo>
                  <a:pt x="4538316" y="3093363"/>
                </a:lnTo>
                <a:cubicBezTo>
                  <a:pt x="4643527" y="3093363"/>
                  <a:pt x="4728816" y="3008073"/>
                  <a:pt x="4728816" y="2902863"/>
                </a:cubicBezTo>
                <a:lnTo>
                  <a:pt x="4728816" y="561470"/>
                </a:lnTo>
                <a:cubicBezTo>
                  <a:pt x="4728816" y="510946"/>
                  <a:pt x="4708746" y="462492"/>
                  <a:pt x="4673020" y="426766"/>
                </a:cubicBezTo>
                <a:cubicBezTo>
                  <a:pt x="4637294" y="391040"/>
                  <a:pt x="4588840" y="370970"/>
                  <a:pt x="4538316" y="370970"/>
                </a:cubicBezTo>
                <a:lnTo>
                  <a:pt x="1995715" y="370970"/>
                </a:lnTo>
              </a:path>
            </a:pathLst>
          </a:custGeom>
          <a:ln cap="flat" w="28575">
            <a:solidFill>
              <a:srgbClr val="4D8B7E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1788001" y="2776546"/>
            <a:ext cx="6171991" cy="2710721"/>
          </a:xfrm>
          <a:custGeom>
            <a:avLst/>
            <a:gdLst/>
            <a:ahLst/>
            <a:cxnLst/>
            <a:rect r="r" b="b" t="t" l="l"/>
            <a:pathLst>
              <a:path h="2710721" w="6171991">
                <a:moveTo>
                  <a:pt x="0" y="0"/>
                </a:moveTo>
                <a:lnTo>
                  <a:pt x="6171991" y="0"/>
                </a:lnTo>
                <a:lnTo>
                  <a:pt x="6171991" y="2710721"/>
                </a:lnTo>
                <a:lnTo>
                  <a:pt x="0" y="27107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8654" r="-11665" b="-22032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726884"/>
            <a:ext cx="16907284" cy="1078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0"/>
              </a:lnSpc>
            </a:pPr>
            <a:r>
              <a:rPr lang="en-US" sz="8000" b="true">
                <a:solidFill>
                  <a:srgbClr val="F3FDFB"/>
                </a:solidFill>
                <a:latin typeface="DM Sans Bold"/>
                <a:ea typeface="DM Sans Bold"/>
                <a:cs typeface="DM Sans Bold"/>
                <a:sym typeface="DM Sans Bold"/>
              </a:rPr>
              <a:t>Hardware Components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069198" y="9238325"/>
            <a:ext cx="866785" cy="422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3FDFB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18621" y="2810648"/>
            <a:ext cx="866785" cy="523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F3FDFB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8621" y="6282232"/>
            <a:ext cx="86678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F3FDFB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477581" y="6377633"/>
            <a:ext cx="86678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F3FDFB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732791" y="6419271"/>
            <a:ext cx="86678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F3FDFB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90910" y="4248083"/>
            <a:ext cx="4013041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Main microcontroller and Wi-Fi communication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90910" y="7723608"/>
            <a:ext cx="4013041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Counts wheel rotations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749871" y="7561431"/>
            <a:ext cx="419434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Detects water presence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995279" y="7590295"/>
            <a:ext cx="4013041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Provides geographical coordinates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90910" y="3578195"/>
            <a:ext cx="435484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F3FDFB"/>
                </a:solidFill>
                <a:latin typeface="DM Sans Bold"/>
                <a:ea typeface="DM Sans Bold"/>
                <a:cs typeface="DM Sans Bold"/>
                <a:sym typeface="DM Sans Bold"/>
              </a:rPr>
              <a:t>ESP32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90910" y="7053720"/>
            <a:ext cx="435484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F3FDFB"/>
                </a:solidFill>
                <a:latin typeface="DM Sans Bold"/>
                <a:ea typeface="DM Sans Bold"/>
                <a:cs typeface="DM Sans Bold"/>
                <a:sym typeface="DM Sans Bold"/>
              </a:rPr>
              <a:t>Magnetic Sensor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749871" y="7053720"/>
            <a:ext cx="435484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F3FDFB"/>
                </a:solidFill>
                <a:latin typeface="DM Sans Bold"/>
                <a:ea typeface="DM Sans Bold"/>
                <a:cs typeface="DM Sans Bold"/>
                <a:sym typeface="DM Sans Bold"/>
              </a:rPr>
              <a:t>Moisture Sensor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995279" y="7053720"/>
            <a:ext cx="435484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F3FDFB"/>
                </a:solidFill>
                <a:latin typeface="DM Sans Bold"/>
                <a:ea typeface="DM Sans Bold"/>
                <a:cs typeface="DM Sans Bold"/>
                <a:sym typeface="DM Sans Bold"/>
              </a:rPr>
              <a:t>GPS Module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749871" y="3039230"/>
            <a:ext cx="866785" cy="523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F3FDFB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749871" y="3578195"/>
            <a:ext cx="435484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F3FDFB"/>
                </a:solidFill>
                <a:latin typeface="DM Sans Bold"/>
                <a:ea typeface="DM Sans Bold"/>
                <a:cs typeface="DM Sans Bold"/>
                <a:sym typeface="DM Sans Bold"/>
              </a:rPr>
              <a:t>Ultrasonic Sensor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840524" y="4349714"/>
            <a:ext cx="4013041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Measures distance to the road surface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947817" y="-507514"/>
            <a:ext cx="24183634" cy="9431617"/>
          </a:xfrm>
          <a:custGeom>
            <a:avLst/>
            <a:gdLst/>
            <a:ahLst/>
            <a:cxnLst/>
            <a:rect r="r" b="b" t="t" l="l"/>
            <a:pathLst>
              <a:path h="9431617" w="24183634">
                <a:moveTo>
                  <a:pt x="0" y="0"/>
                </a:moveTo>
                <a:lnTo>
                  <a:pt x="24183634" y="0"/>
                </a:lnTo>
                <a:lnTo>
                  <a:pt x="24183634" y="9431617"/>
                </a:lnTo>
                <a:lnTo>
                  <a:pt x="0" y="94316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660563"/>
            <a:ext cx="18288000" cy="626437"/>
            <a:chOff x="0" y="0"/>
            <a:chExt cx="4816593" cy="1649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64987"/>
            </a:xfrm>
            <a:custGeom>
              <a:avLst/>
              <a:gdLst/>
              <a:ahLst/>
              <a:cxnLst/>
              <a:rect r="r" b="b" t="t" l="l"/>
              <a:pathLst>
                <a:path h="1649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4987"/>
                  </a:lnTo>
                  <a:lnTo>
                    <a:pt x="0" y="164987"/>
                  </a:lnTo>
                  <a:close/>
                </a:path>
              </a:pathLst>
            </a:custGeom>
            <a:solidFill>
              <a:srgbClr val="4D8B7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030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15497053" y="7496053"/>
            <a:ext cx="2416870" cy="3165024"/>
            <a:chOff x="0" y="0"/>
            <a:chExt cx="571500" cy="7484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71500" cy="748411"/>
            </a:xfrm>
            <a:custGeom>
              <a:avLst/>
              <a:gdLst/>
              <a:ahLst/>
              <a:cxnLst/>
              <a:rect r="r" b="b" t="t" l="l"/>
              <a:pathLst>
                <a:path h="748411" w="571500">
                  <a:moveTo>
                    <a:pt x="571500" y="748411"/>
                  </a:moveTo>
                  <a:lnTo>
                    <a:pt x="0" y="748411"/>
                  </a:lnTo>
                  <a:lnTo>
                    <a:pt x="0" y="0"/>
                  </a:lnTo>
                  <a:lnTo>
                    <a:pt x="571500" y="748411"/>
                  </a:lnTo>
                  <a:close/>
                </a:path>
              </a:pathLst>
            </a:custGeom>
            <a:solidFill>
              <a:srgbClr val="4D8B7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336105"/>
              <a:ext cx="285750" cy="410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10728" y="390921"/>
            <a:ext cx="6393302" cy="8895029"/>
          </a:xfrm>
          <a:custGeom>
            <a:avLst/>
            <a:gdLst/>
            <a:ahLst/>
            <a:cxnLst/>
            <a:rect r="r" b="b" t="t" l="l"/>
            <a:pathLst>
              <a:path h="8895029" w="6393302">
                <a:moveTo>
                  <a:pt x="0" y="0"/>
                </a:moveTo>
                <a:lnTo>
                  <a:pt x="6393302" y="0"/>
                </a:lnTo>
                <a:lnTo>
                  <a:pt x="6393302" y="8895029"/>
                </a:lnTo>
                <a:lnTo>
                  <a:pt x="0" y="88950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069198" y="9238325"/>
            <a:ext cx="866785" cy="422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3FDFB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88463" y="1975993"/>
            <a:ext cx="7780735" cy="2106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60"/>
              </a:lnSpc>
            </a:pPr>
            <a:r>
              <a:rPr lang="en-US" b="true" sz="8000">
                <a:solidFill>
                  <a:srgbClr val="F3FDFB"/>
                </a:solidFill>
                <a:latin typeface="DM Sans Bold"/>
                <a:ea typeface="DM Sans Bold"/>
                <a:cs typeface="DM Sans Bold"/>
                <a:sym typeface="DM Sans Bold"/>
              </a:rPr>
              <a:t>System Architecture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57803" y="4497382"/>
            <a:ext cx="9211395" cy="2076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96"/>
              </a:lnSpc>
            </a:pPr>
            <a:r>
              <a:rPr lang="en-US" sz="2997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Sensors collect road-condition data, which is processed by the ESP32 and transmitted to the Flask backend through Wi-Fi. The website displays the readings and supports maintenance monitoring.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C4B3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6699268" y="-4078503"/>
            <a:ext cx="16715249" cy="8521499"/>
            <a:chOff x="0" y="0"/>
            <a:chExt cx="647700" cy="330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7700" cy="330200"/>
            </a:xfrm>
            <a:custGeom>
              <a:avLst/>
              <a:gdLst/>
              <a:ahLst/>
              <a:cxnLst/>
              <a:rect r="r" b="b" t="t" l="l"/>
              <a:pathLst>
                <a:path h="330200" w="647700">
                  <a:moveTo>
                    <a:pt x="647700" y="330200"/>
                  </a:moveTo>
                  <a:cubicBezTo>
                    <a:pt x="647700" y="150345"/>
                    <a:pt x="500247" y="0"/>
                    <a:pt x="323850" y="0"/>
                  </a:cubicBezTo>
                  <a:cubicBezTo>
                    <a:pt x="147453" y="0"/>
                    <a:pt x="0" y="150345"/>
                    <a:pt x="0" y="330200"/>
                  </a:cubicBezTo>
                  <a:lnTo>
                    <a:pt x="647700" y="330200"/>
                  </a:lnTo>
                  <a:close/>
                </a:path>
              </a:pathLst>
            </a:custGeom>
            <a:gradFill rotWithShape="true">
              <a:gsLst>
                <a:gs pos="0">
                  <a:srgbClr val="64BAA8">
                    <a:alpha val="34000"/>
                  </a:srgbClr>
                </a:gs>
                <a:gs pos="50000">
                  <a:srgbClr val="025F4C">
                    <a:alpha val="34000"/>
                  </a:srgbClr>
                </a:gs>
                <a:gs pos="100000">
                  <a:srgbClr val="4DFFDA">
                    <a:alpha val="34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52400" y="69850"/>
              <a:ext cx="342900" cy="260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447609" y="4237806"/>
            <a:ext cx="16715249" cy="8521499"/>
            <a:chOff x="0" y="0"/>
            <a:chExt cx="647700" cy="330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7700" cy="330200"/>
            </a:xfrm>
            <a:custGeom>
              <a:avLst/>
              <a:gdLst/>
              <a:ahLst/>
              <a:cxnLst/>
              <a:rect r="r" b="b" t="t" l="l"/>
              <a:pathLst>
                <a:path h="330200" w="647700">
                  <a:moveTo>
                    <a:pt x="647700" y="330200"/>
                  </a:moveTo>
                  <a:cubicBezTo>
                    <a:pt x="647700" y="150345"/>
                    <a:pt x="500247" y="0"/>
                    <a:pt x="323850" y="0"/>
                  </a:cubicBezTo>
                  <a:cubicBezTo>
                    <a:pt x="147453" y="0"/>
                    <a:pt x="0" y="150345"/>
                    <a:pt x="0" y="330200"/>
                  </a:cubicBezTo>
                  <a:lnTo>
                    <a:pt x="647700" y="330200"/>
                  </a:lnTo>
                  <a:close/>
                </a:path>
              </a:pathLst>
            </a:custGeom>
            <a:gradFill rotWithShape="true">
              <a:gsLst>
                <a:gs pos="0">
                  <a:srgbClr val="4D8B7E">
                    <a:alpha val="34000"/>
                  </a:srgbClr>
                </a:gs>
                <a:gs pos="50000">
                  <a:srgbClr val="78E8C5">
                    <a:alpha val="34000"/>
                  </a:srgbClr>
                </a:gs>
                <a:gs pos="100000">
                  <a:srgbClr val="00644F">
                    <a:alpha val="34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52400" y="69850"/>
              <a:ext cx="342900" cy="260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660563"/>
            <a:ext cx="18288000" cy="626437"/>
            <a:chOff x="0" y="0"/>
            <a:chExt cx="4816593" cy="1649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164987"/>
            </a:xfrm>
            <a:custGeom>
              <a:avLst/>
              <a:gdLst/>
              <a:ahLst/>
              <a:cxnLst/>
              <a:rect r="r" b="b" t="t" l="l"/>
              <a:pathLst>
                <a:path h="1649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4987"/>
                  </a:lnTo>
                  <a:lnTo>
                    <a:pt x="0" y="164987"/>
                  </a:lnTo>
                  <a:close/>
                </a:path>
              </a:pathLst>
            </a:custGeom>
            <a:solidFill>
              <a:srgbClr val="4D8B7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2030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15497053" y="7496053"/>
            <a:ext cx="2416870" cy="3165024"/>
            <a:chOff x="0" y="0"/>
            <a:chExt cx="571500" cy="7484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71500" cy="748411"/>
            </a:xfrm>
            <a:custGeom>
              <a:avLst/>
              <a:gdLst/>
              <a:ahLst/>
              <a:cxnLst/>
              <a:rect r="r" b="b" t="t" l="l"/>
              <a:pathLst>
                <a:path h="748411" w="571500">
                  <a:moveTo>
                    <a:pt x="571500" y="748411"/>
                  </a:moveTo>
                  <a:lnTo>
                    <a:pt x="0" y="748411"/>
                  </a:lnTo>
                  <a:lnTo>
                    <a:pt x="0" y="0"/>
                  </a:lnTo>
                  <a:lnTo>
                    <a:pt x="571500" y="748411"/>
                  </a:lnTo>
                  <a:close/>
                </a:path>
              </a:pathLst>
            </a:custGeom>
            <a:solidFill>
              <a:srgbClr val="4D8B7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336105"/>
              <a:ext cx="285750" cy="410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>
            <a:off x="1067428" y="1510221"/>
            <a:ext cx="5920378" cy="3488787"/>
          </a:xfrm>
          <a:custGeom>
            <a:avLst/>
            <a:gdLst/>
            <a:ahLst/>
            <a:cxnLst/>
            <a:rect r="r" b="b" t="t" l="l"/>
            <a:pathLst>
              <a:path h="3488787" w="5920378">
                <a:moveTo>
                  <a:pt x="5569943" y="1138932"/>
                </a:moveTo>
                <a:lnTo>
                  <a:pt x="5569943" y="200025"/>
                </a:lnTo>
                <a:cubicBezTo>
                  <a:pt x="5569943" y="146975"/>
                  <a:pt x="5548869" y="96098"/>
                  <a:pt x="5511357" y="58586"/>
                </a:cubicBezTo>
                <a:cubicBezTo>
                  <a:pt x="5473845" y="21074"/>
                  <a:pt x="5422968" y="0"/>
                  <a:pt x="5369918" y="0"/>
                </a:cubicBezTo>
                <a:lnTo>
                  <a:pt x="200025" y="0"/>
                </a:lnTo>
                <a:cubicBezTo>
                  <a:pt x="89554" y="0"/>
                  <a:pt x="0" y="89555"/>
                  <a:pt x="0" y="200025"/>
                </a:cubicBezTo>
                <a:lnTo>
                  <a:pt x="0" y="3288762"/>
                </a:lnTo>
                <a:cubicBezTo>
                  <a:pt x="0" y="3399233"/>
                  <a:pt x="89554" y="3488787"/>
                  <a:pt x="200025" y="3488787"/>
                </a:cubicBezTo>
                <a:lnTo>
                  <a:pt x="5369918" y="3488787"/>
                </a:lnTo>
                <a:cubicBezTo>
                  <a:pt x="5422968" y="3488787"/>
                  <a:pt x="5473845" y="3467713"/>
                  <a:pt x="5511357" y="3430201"/>
                </a:cubicBezTo>
                <a:cubicBezTo>
                  <a:pt x="5548869" y="3392689"/>
                  <a:pt x="5569943" y="3341812"/>
                  <a:pt x="5569943" y="3288762"/>
                </a:cubicBezTo>
                <a:lnTo>
                  <a:pt x="5569943" y="2225874"/>
                </a:lnTo>
                <a:cubicBezTo>
                  <a:pt x="5569943" y="2129104"/>
                  <a:pt x="5648391" y="2050656"/>
                  <a:pt x="5745161" y="2050656"/>
                </a:cubicBezTo>
                <a:lnTo>
                  <a:pt x="5920378" y="2050656"/>
                </a:lnTo>
              </a:path>
            </a:pathLst>
          </a:custGeom>
          <a:ln cap="flat" w="28575">
            <a:solidFill>
              <a:srgbClr val="4D8B7E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15" id="15"/>
          <p:cNvSpPr/>
          <p:nvPr/>
        </p:nvSpPr>
        <p:spPr>
          <a:xfrm>
            <a:off x="1042988" y="5125284"/>
            <a:ext cx="11134164" cy="3488787"/>
          </a:xfrm>
          <a:custGeom>
            <a:avLst/>
            <a:gdLst/>
            <a:ahLst/>
            <a:cxnLst/>
            <a:rect r="r" b="b" t="t" l="l"/>
            <a:pathLst>
              <a:path h="3488787" w="11134164">
                <a:moveTo>
                  <a:pt x="11134163" y="3373272"/>
                </a:moveTo>
                <a:lnTo>
                  <a:pt x="11134163" y="200025"/>
                </a:lnTo>
                <a:cubicBezTo>
                  <a:pt x="11134163" y="89554"/>
                  <a:pt x="11044609" y="0"/>
                  <a:pt x="10934138" y="0"/>
                </a:cubicBezTo>
                <a:lnTo>
                  <a:pt x="5945164" y="0"/>
                </a:lnTo>
                <a:cubicBezTo>
                  <a:pt x="5834693" y="0"/>
                  <a:pt x="5745139" y="89554"/>
                  <a:pt x="5745139" y="200025"/>
                </a:cubicBezTo>
                <a:lnTo>
                  <a:pt x="5745139" y="1478090"/>
                </a:lnTo>
                <a:cubicBezTo>
                  <a:pt x="5745139" y="1526469"/>
                  <a:pt x="5705919" y="1565688"/>
                  <a:pt x="5657541" y="1565688"/>
                </a:cubicBezTo>
                <a:lnTo>
                  <a:pt x="5657541" y="1565688"/>
                </a:lnTo>
                <a:cubicBezTo>
                  <a:pt x="5609162" y="1565688"/>
                  <a:pt x="5569942" y="1526469"/>
                  <a:pt x="5569942" y="1478090"/>
                </a:cubicBezTo>
                <a:lnTo>
                  <a:pt x="5569942" y="200025"/>
                </a:lnTo>
                <a:cubicBezTo>
                  <a:pt x="5569942" y="89554"/>
                  <a:pt x="5480388" y="0"/>
                  <a:pt x="5369917" y="0"/>
                </a:cubicBezTo>
                <a:lnTo>
                  <a:pt x="200024" y="0"/>
                </a:lnTo>
                <a:cubicBezTo>
                  <a:pt x="146975" y="0"/>
                  <a:pt x="96097" y="21074"/>
                  <a:pt x="58585" y="58586"/>
                </a:cubicBezTo>
                <a:cubicBezTo>
                  <a:pt x="21074" y="96098"/>
                  <a:pt x="0" y="146975"/>
                  <a:pt x="0" y="200025"/>
                </a:cubicBezTo>
                <a:lnTo>
                  <a:pt x="0" y="3288762"/>
                </a:lnTo>
                <a:cubicBezTo>
                  <a:pt x="0" y="3341812"/>
                  <a:pt x="21074" y="3392689"/>
                  <a:pt x="58585" y="3430202"/>
                </a:cubicBezTo>
                <a:cubicBezTo>
                  <a:pt x="96097" y="3467713"/>
                  <a:pt x="146975" y="3488787"/>
                  <a:pt x="200024" y="3488787"/>
                </a:cubicBezTo>
                <a:lnTo>
                  <a:pt x="5369917" y="3488787"/>
                </a:lnTo>
                <a:cubicBezTo>
                  <a:pt x="5422967" y="3488787"/>
                  <a:pt x="5473844" y="3467713"/>
                  <a:pt x="5511356" y="3430202"/>
                </a:cubicBezTo>
                <a:cubicBezTo>
                  <a:pt x="5548869" y="3392689"/>
                  <a:pt x="5569942" y="3341812"/>
                  <a:pt x="5569942" y="3288762"/>
                </a:cubicBezTo>
                <a:lnTo>
                  <a:pt x="5569942" y="2225874"/>
                </a:lnTo>
                <a:cubicBezTo>
                  <a:pt x="5569942" y="2129104"/>
                  <a:pt x="5648390" y="2050656"/>
                  <a:pt x="5745160" y="2050656"/>
                </a:cubicBezTo>
                <a:lnTo>
                  <a:pt x="5920378" y="2050656"/>
                </a:lnTo>
              </a:path>
            </a:pathLst>
          </a:custGeom>
          <a:ln cap="flat" w="28575">
            <a:solidFill>
              <a:srgbClr val="4D8B7E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16" id="16"/>
          <p:cNvSpPr/>
          <p:nvPr/>
        </p:nvSpPr>
        <p:spPr>
          <a:xfrm>
            <a:off x="6783346" y="1510221"/>
            <a:ext cx="5570069" cy="3506597"/>
          </a:xfrm>
          <a:custGeom>
            <a:avLst/>
            <a:gdLst/>
            <a:ahLst/>
            <a:cxnLst/>
            <a:rect r="r" b="b" t="t" l="l"/>
            <a:pathLst>
              <a:path h="3506597" w="5570069">
                <a:moveTo>
                  <a:pt x="4781" y="2153543"/>
                </a:moveTo>
                <a:lnTo>
                  <a:pt x="4781" y="3306572"/>
                </a:lnTo>
                <a:cubicBezTo>
                  <a:pt x="4781" y="3359622"/>
                  <a:pt x="25855" y="3410499"/>
                  <a:pt x="63367" y="3448011"/>
                </a:cubicBezTo>
                <a:cubicBezTo>
                  <a:pt x="100879" y="3485523"/>
                  <a:pt x="151755" y="3506597"/>
                  <a:pt x="204806" y="3506597"/>
                </a:cubicBezTo>
                <a:lnTo>
                  <a:pt x="5370043" y="3506597"/>
                </a:lnTo>
                <a:cubicBezTo>
                  <a:pt x="5480514" y="3506597"/>
                  <a:pt x="5570068" y="3417043"/>
                  <a:pt x="5570068" y="3306572"/>
                </a:cubicBezTo>
                <a:lnTo>
                  <a:pt x="5570068" y="200025"/>
                </a:lnTo>
                <a:cubicBezTo>
                  <a:pt x="5570068" y="146975"/>
                  <a:pt x="5548994" y="96098"/>
                  <a:pt x="5511482" y="58586"/>
                </a:cubicBezTo>
                <a:cubicBezTo>
                  <a:pt x="5473970" y="21074"/>
                  <a:pt x="5423093" y="0"/>
                  <a:pt x="5370043" y="0"/>
                </a:cubicBezTo>
                <a:lnTo>
                  <a:pt x="204806" y="0"/>
                </a:lnTo>
                <a:cubicBezTo>
                  <a:pt x="94335" y="0"/>
                  <a:pt x="4781" y="89555"/>
                  <a:pt x="4781" y="200025"/>
                </a:cubicBezTo>
                <a:lnTo>
                  <a:pt x="4781" y="1036641"/>
                </a:lnTo>
                <a:cubicBezTo>
                  <a:pt x="4781" y="1037275"/>
                  <a:pt x="4529" y="1037883"/>
                  <a:pt x="4081" y="1038331"/>
                </a:cubicBezTo>
                <a:cubicBezTo>
                  <a:pt x="3632" y="1038779"/>
                  <a:pt x="3024" y="1039031"/>
                  <a:pt x="2390" y="1039031"/>
                </a:cubicBezTo>
                <a:lnTo>
                  <a:pt x="0" y="1039031"/>
                </a:lnTo>
              </a:path>
            </a:pathLst>
          </a:custGeom>
          <a:ln cap="flat" w="28575">
            <a:solidFill>
              <a:srgbClr val="4D8B7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>
            <a:off x="6763686" y="5125284"/>
            <a:ext cx="10421848" cy="3506598"/>
          </a:xfrm>
          <a:custGeom>
            <a:avLst/>
            <a:gdLst/>
            <a:ahLst/>
            <a:cxnLst/>
            <a:rect r="r" b="b" t="t" l="l"/>
            <a:pathLst>
              <a:path h="3506598" w="10421848">
                <a:moveTo>
                  <a:pt x="0" y="2153543"/>
                </a:moveTo>
                <a:lnTo>
                  <a:pt x="0" y="3306573"/>
                </a:lnTo>
                <a:cubicBezTo>
                  <a:pt x="0" y="3417043"/>
                  <a:pt x="89555" y="3506598"/>
                  <a:pt x="200025" y="3506598"/>
                </a:cubicBezTo>
                <a:lnTo>
                  <a:pt x="5365263" y="3506598"/>
                </a:lnTo>
                <a:cubicBezTo>
                  <a:pt x="5418313" y="3506598"/>
                  <a:pt x="5469190" y="3485524"/>
                  <a:pt x="5506702" y="3448012"/>
                </a:cubicBezTo>
                <a:cubicBezTo>
                  <a:pt x="5544214" y="3410500"/>
                  <a:pt x="5565288" y="3359623"/>
                  <a:pt x="5565288" y="3306573"/>
                </a:cubicBezTo>
                <a:lnTo>
                  <a:pt x="5565288" y="200025"/>
                </a:lnTo>
                <a:cubicBezTo>
                  <a:pt x="5565288" y="146975"/>
                  <a:pt x="5586362" y="96098"/>
                  <a:pt x="5623874" y="58586"/>
                </a:cubicBezTo>
                <a:cubicBezTo>
                  <a:pt x="5661386" y="21074"/>
                  <a:pt x="5712263" y="0"/>
                  <a:pt x="5765313" y="0"/>
                </a:cubicBezTo>
                <a:lnTo>
                  <a:pt x="10221823" y="0"/>
                </a:lnTo>
                <a:cubicBezTo>
                  <a:pt x="10274872" y="0"/>
                  <a:pt x="10325750" y="21074"/>
                  <a:pt x="10363262" y="58586"/>
                </a:cubicBezTo>
                <a:cubicBezTo>
                  <a:pt x="10400775" y="96098"/>
                  <a:pt x="10421848" y="146975"/>
                  <a:pt x="10421848" y="200025"/>
                </a:cubicBezTo>
                <a:lnTo>
                  <a:pt x="10421848" y="3306573"/>
                </a:lnTo>
                <a:cubicBezTo>
                  <a:pt x="10421848" y="3417043"/>
                  <a:pt x="10332294" y="3506598"/>
                  <a:pt x="10221823" y="3506598"/>
                </a:cubicBezTo>
                <a:lnTo>
                  <a:pt x="6224269" y="3506598"/>
                </a:lnTo>
              </a:path>
            </a:pathLst>
          </a:custGeom>
          <a:ln cap="flat" w="28575">
            <a:solidFill>
              <a:srgbClr val="4D8B7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17069198" y="9238325"/>
            <a:ext cx="866785" cy="42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3FDFB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07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642556" y="1649359"/>
            <a:ext cx="6700561" cy="2106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0"/>
              </a:lnSpc>
            </a:pPr>
            <a:r>
              <a:rPr lang="en-US" sz="8000" b="true">
                <a:solidFill>
                  <a:srgbClr val="F3FDFB"/>
                </a:solidFill>
                <a:latin typeface="DM Sans Bold"/>
                <a:ea typeface="DM Sans Bold"/>
                <a:cs typeface="DM Sans Bold"/>
                <a:sym typeface="DM Sans Bold"/>
              </a:rPr>
              <a:t>Working Principle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58356" y="1663655"/>
            <a:ext cx="1955104" cy="1610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74"/>
              </a:lnSpc>
            </a:pPr>
            <a:r>
              <a:rPr lang="en-US" b="true" sz="9481">
                <a:solidFill>
                  <a:srgbClr val="F3FDFB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464358" y="1663655"/>
            <a:ext cx="1955104" cy="1610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74"/>
              </a:lnSpc>
            </a:pPr>
            <a:r>
              <a:rPr lang="en-US" b="true" sz="9481">
                <a:solidFill>
                  <a:srgbClr val="F3FDFB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58356" y="5273284"/>
            <a:ext cx="1955104" cy="1610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74"/>
              </a:lnSpc>
            </a:pPr>
            <a:r>
              <a:rPr lang="en-US" b="true" sz="9481">
                <a:solidFill>
                  <a:srgbClr val="F3FDFB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464358" y="5273284"/>
            <a:ext cx="1955104" cy="1610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74"/>
              </a:lnSpc>
            </a:pPr>
            <a:r>
              <a:rPr lang="en-US" b="true" sz="9481">
                <a:solidFill>
                  <a:srgbClr val="F3FDFB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49008" y="3616139"/>
            <a:ext cx="3895840" cy="449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4"/>
              </a:lnSpc>
            </a:pPr>
            <a:r>
              <a:rPr lang="en-US" sz="2681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Road</a:t>
            </a:r>
            <a:r>
              <a:rPr lang="en-US" sz="2681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 Surface Monitoring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620509" y="3708595"/>
            <a:ext cx="3895840" cy="449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4"/>
              </a:lnSpc>
            </a:pPr>
            <a:r>
              <a:rPr lang="en-US" sz="2681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 Pothole Detection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49008" y="7128315"/>
            <a:ext cx="3895840" cy="449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4"/>
              </a:lnSpc>
            </a:pPr>
            <a:r>
              <a:rPr lang="en-US" sz="2681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Add</a:t>
            </a:r>
            <a:r>
              <a:rPr lang="en-US" sz="2681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itional Monitoring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620509" y="7128315"/>
            <a:ext cx="3895840" cy="449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4"/>
              </a:lnSpc>
            </a:pPr>
            <a:r>
              <a:rPr lang="en-US" sz="2681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Data</a:t>
            </a:r>
            <a:r>
              <a:rPr lang="en-US" sz="2681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 Transmission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827682" y="5410739"/>
            <a:ext cx="1955104" cy="1610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74"/>
              </a:lnSpc>
            </a:pPr>
            <a:r>
              <a:rPr lang="en-US" b="true" sz="9481">
                <a:solidFill>
                  <a:srgbClr val="F3FDFB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05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987955" y="7128315"/>
            <a:ext cx="3895840" cy="449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4"/>
              </a:lnSpc>
            </a:pPr>
            <a:r>
              <a:rPr lang="en-US" sz="2681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W</a:t>
            </a:r>
            <a:r>
              <a:rPr lang="en-US" sz="2681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eb Monitoring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C4B3E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08169" y="-1648556"/>
            <a:ext cx="10394639" cy="12157472"/>
          </a:xfrm>
          <a:custGeom>
            <a:avLst/>
            <a:gdLst/>
            <a:ahLst/>
            <a:cxnLst/>
            <a:rect r="r" b="b" t="t" l="l"/>
            <a:pathLst>
              <a:path h="12157472" w="10394639">
                <a:moveTo>
                  <a:pt x="0" y="0"/>
                </a:moveTo>
                <a:lnTo>
                  <a:pt x="10394638" y="0"/>
                </a:lnTo>
                <a:lnTo>
                  <a:pt x="10394638" y="12157472"/>
                </a:lnTo>
                <a:lnTo>
                  <a:pt x="0" y="12157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9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340871" y="-10876541"/>
            <a:ext cx="10394639" cy="12157472"/>
          </a:xfrm>
          <a:custGeom>
            <a:avLst/>
            <a:gdLst/>
            <a:ahLst/>
            <a:cxnLst/>
            <a:rect r="r" b="b" t="t" l="l"/>
            <a:pathLst>
              <a:path h="12157472" w="10394639">
                <a:moveTo>
                  <a:pt x="0" y="0"/>
                </a:moveTo>
                <a:lnTo>
                  <a:pt x="10394639" y="0"/>
                </a:lnTo>
                <a:lnTo>
                  <a:pt x="10394639" y="12157472"/>
                </a:lnTo>
                <a:lnTo>
                  <a:pt x="0" y="12157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9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5400000">
            <a:off x="15497053" y="7496053"/>
            <a:ext cx="2416870" cy="3165024"/>
            <a:chOff x="0" y="0"/>
            <a:chExt cx="571500" cy="7484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71500" cy="748411"/>
            </a:xfrm>
            <a:custGeom>
              <a:avLst/>
              <a:gdLst/>
              <a:ahLst/>
              <a:cxnLst/>
              <a:rect r="r" b="b" t="t" l="l"/>
              <a:pathLst>
                <a:path h="748411" w="571500">
                  <a:moveTo>
                    <a:pt x="571500" y="748411"/>
                  </a:moveTo>
                  <a:lnTo>
                    <a:pt x="0" y="748411"/>
                  </a:lnTo>
                  <a:lnTo>
                    <a:pt x="0" y="0"/>
                  </a:lnTo>
                  <a:lnTo>
                    <a:pt x="571500" y="748411"/>
                  </a:lnTo>
                  <a:close/>
                </a:path>
              </a:pathLst>
            </a:custGeom>
            <a:solidFill>
              <a:srgbClr val="4D8B7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336105"/>
              <a:ext cx="285750" cy="410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660563"/>
            <a:ext cx="18288000" cy="626437"/>
            <a:chOff x="0" y="0"/>
            <a:chExt cx="4816593" cy="16498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16592" cy="164987"/>
            </a:xfrm>
            <a:custGeom>
              <a:avLst/>
              <a:gdLst/>
              <a:ahLst/>
              <a:cxnLst/>
              <a:rect r="r" b="b" t="t" l="l"/>
              <a:pathLst>
                <a:path h="1649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4987"/>
                  </a:lnTo>
                  <a:lnTo>
                    <a:pt x="0" y="164987"/>
                  </a:lnTo>
                  <a:close/>
                </a:path>
              </a:pathLst>
            </a:custGeom>
            <a:solidFill>
              <a:srgbClr val="4D8B7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816593" cy="2030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069198" y="9238325"/>
            <a:ext cx="866785" cy="422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3FDFB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08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1162050"/>
            <a:ext cx="8539346" cy="2106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0"/>
              </a:lnSpc>
            </a:pPr>
            <a:r>
              <a:rPr lang="en-US" sz="8000" b="true">
                <a:solidFill>
                  <a:srgbClr val="F3FDFB"/>
                </a:solidFill>
                <a:latin typeface="DM Sans Bold"/>
                <a:ea typeface="DM Sans Bold"/>
                <a:cs typeface="DM Sans Bold"/>
                <a:sym typeface="DM Sans Bold"/>
              </a:rPr>
              <a:t>Software Implementation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550110"/>
            <a:ext cx="10113202" cy="3220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3FDFB"/>
                </a:solidFill>
                <a:latin typeface="DM Sans Bold"/>
                <a:ea typeface="DM Sans Bold"/>
                <a:cs typeface="DM Sans Bold"/>
                <a:sym typeface="DM Sans Bold"/>
              </a:rPr>
              <a:t>Technology 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78E8C5"/>
                </a:solidFill>
                <a:latin typeface="DM Sans"/>
                <a:ea typeface="DM Sans"/>
                <a:cs typeface="DM Sans"/>
                <a:sym typeface="DM Sans"/>
              </a:rPr>
              <a:t>Arduino IDE:</a:t>
            </a:r>
            <a:r>
              <a:rPr lang="en-US" sz="2499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 ESP32 programming and sensor interfacing.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78E8C5"/>
                </a:solidFill>
                <a:latin typeface="DM Sans"/>
                <a:ea typeface="DM Sans"/>
                <a:cs typeface="DM Sans"/>
                <a:sym typeface="DM Sans"/>
              </a:rPr>
              <a:t>Embedded C/C++:</a:t>
            </a:r>
            <a:r>
              <a:rPr lang="en-US" sz="2499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 Sensor processing and pothole detection.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78E8C5"/>
                </a:solidFill>
                <a:latin typeface="DM Sans"/>
                <a:ea typeface="DM Sans"/>
                <a:cs typeface="DM Sans"/>
                <a:sym typeface="DM Sans"/>
              </a:rPr>
              <a:t>Python Flask:</a:t>
            </a:r>
            <a:r>
              <a:rPr lang="en-US" sz="2499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 Backend server and API communication.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78E8C5"/>
                </a:solidFill>
                <a:latin typeface="DM Sans"/>
                <a:ea typeface="DM Sans"/>
                <a:cs typeface="DM Sans"/>
                <a:sym typeface="DM Sans"/>
              </a:rPr>
              <a:t>HTML:</a:t>
            </a:r>
            <a:r>
              <a:rPr lang="en-US" sz="2499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 Website structure.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78E8C5"/>
                </a:solidFill>
                <a:latin typeface="DM Sans"/>
                <a:ea typeface="DM Sans"/>
                <a:cs typeface="DM Sans"/>
                <a:sym typeface="DM Sans"/>
              </a:rPr>
              <a:t>CSS:</a:t>
            </a:r>
            <a:r>
              <a:rPr lang="en-US" sz="2499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 Dashboard design.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78E8C5"/>
                </a:solidFill>
                <a:latin typeface="DM Sans"/>
                <a:ea typeface="DM Sans"/>
                <a:cs typeface="DM Sans"/>
                <a:sym typeface="DM Sans"/>
              </a:rPr>
              <a:t>JavaScript:</a:t>
            </a:r>
            <a:r>
              <a:rPr lang="en-US" sz="2499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 Live sensor monitoring and dashboard updates.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7102726"/>
            <a:ext cx="10944254" cy="146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3FDFB"/>
                </a:solidFill>
                <a:latin typeface="DM Sans Bold"/>
                <a:ea typeface="DM Sans Bold"/>
                <a:cs typeface="DM Sans Bold"/>
                <a:sym typeface="DM Sans Bold"/>
              </a:rPr>
              <a:t>Communication 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ESP32 sends sensor data to Flask through HTTP POST requests. The website retrieves the latest readings through HTTP GET requests.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84209" y="-2772586"/>
            <a:ext cx="14303791" cy="14303791"/>
          </a:xfrm>
          <a:custGeom>
            <a:avLst/>
            <a:gdLst/>
            <a:ahLst/>
            <a:cxnLst/>
            <a:rect r="r" b="b" t="t" l="l"/>
            <a:pathLst>
              <a:path h="14303791" w="14303791">
                <a:moveTo>
                  <a:pt x="0" y="0"/>
                </a:moveTo>
                <a:lnTo>
                  <a:pt x="14303791" y="0"/>
                </a:lnTo>
                <a:lnTo>
                  <a:pt x="14303791" y="14303791"/>
                </a:lnTo>
                <a:lnTo>
                  <a:pt x="0" y="143037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</a:blip>
            <a:stretch>
              <a:fillRect l="-2227" t="-1052" r="0" b="-1052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9660563"/>
            <a:ext cx="18288000" cy="626437"/>
            <a:chOff x="0" y="0"/>
            <a:chExt cx="4816593" cy="16498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164987"/>
            </a:xfrm>
            <a:custGeom>
              <a:avLst/>
              <a:gdLst/>
              <a:ahLst/>
              <a:cxnLst/>
              <a:rect r="r" b="b" t="t" l="l"/>
              <a:pathLst>
                <a:path h="1649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4987"/>
                  </a:lnTo>
                  <a:lnTo>
                    <a:pt x="0" y="164987"/>
                  </a:lnTo>
                  <a:close/>
                </a:path>
              </a:pathLst>
            </a:custGeom>
            <a:solidFill>
              <a:srgbClr val="4D8B7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2030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5400000">
            <a:off x="15497053" y="7496053"/>
            <a:ext cx="2416870" cy="3165024"/>
            <a:chOff x="0" y="0"/>
            <a:chExt cx="571500" cy="7484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1500" cy="748411"/>
            </a:xfrm>
            <a:custGeom>
              <a:avLst/>
              <a:gdLst/>
              <a:ahLst/>
              <a:cxnLst/>
              <a:rect r="r" b="b" t="t" l="l"/>
              <a:pathLst>
                <a:path h="748411" w="571500">
                  <a:moveTo>
                    <a:pt x="571500" y="748411"/>
                  </a:moveTo>
                  <a:lnTo>
                    <a:pt x="0" y="748411"/>
                  </a:lnTo>
                  <a:lnTo>
                    <a:pt x="0" y="0"/>
                  </a:lnTo>
                  <a:lnTo>
                    <a:pt x="571500" y="748411"/>
                  </a:lnTo>
                  <a:close/>
                </a:path>
              </a:pathLst>
            </a:custGeom>
            <a:solidFill>
              <a:srgbClr val="4D8B7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336105"/>
              <a:ext cx="285750" cy="410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>
            <a:off x="1042988" y="2393223"/>
            <a:ext cx="10905558" cy="6518281"/>
          </a:xfrm>
          <a:custGeom>
            <a:avLst/>
            <a:gdLst/>
            <a:ahLst/>
            <a:cxnLst/>
            <a:rect r="r" b="b" t="t" l="l"/>
            <a:pathLst>
              <a:path h="6518281" w="10905558">
                <a:moveTo>
                  <a:pt x="1293109" y="471678"/>
                </a:moveTo>
                <a:lnTo>
                  <a:pt x="1293109" y="190500"/>
                </a:lnTo>
                <a:cubicBezTo>
                  <a:pt x="1293109" y="85290"/>
                  <a:pt x="1207819" y="0"/>
                  <a:pt x="1102609" y="0"/>
                </a:cubicBezTo>
                <a:lnTo>
                  <a:pt x="190500" y="0"/>
                </a:lnTo>
                <a:cubicBezTo>
                  <a:pt x="85289" y="0"/>
                  <a:pt x="0" y="85290"/>
                  <a:pt x="0" y="190500"/>
                </a:cubicBezTo>
                <a:lnTo>
                  <a:pt x="0" y="6327781"/>
                </a:lnTo>
                <a:cubicBezTo>
                  <a:pt x="0" y="6432992"/>
                  <a:pt x="85289" y="6518281"/>
                  <a:pt x="190500" y="6518281"/>
                </a:cubicBezTo>
                <a:lnTo>
                  <a:pt x="10715057" y="6518281"/>
                </a:lnTo>
                <a:cubicBezTo>
                  <a:pt x="10765581" y="6518281"/>
                  <a:pt x="10814036" y="6498211"/>
                  <a:pt x="10849761" y="6462485"/>
                </a:cubicBezTo>
                <a:cubicBezTo>
                  <a:pt x="10885487" y="6426760"/>
                  <a:pt x="10905557" y="6378305"/>
                  <a:pt x="10905557" y="6327781"/>
                </a:cubicBezTo>
                <a:lnTo>
                  <a:pt x="10905557" y="662178"/>
                </a:lnTo>
                <a:cubicBezTo>
                  <a:pt x="10905557" y="556968"/>
                  <a:pt x="10820268" y="471678"/>
                  <a:pt x="10715057" y="471678"/>
                </a:cubicBezTo>
                <a:lnTo>
                  <a:pt x="1899552" y="471678"/>
                </a:lnTo>
                <a:cubicBezTo>
                  <a:pt x="1863810" y="471678"/>
                  <a:pt x="1829532" y="457480"/>
                  <a:pt x="1804259" y="432206"/>
                </a:cubicBezTo>
                <a:cubicBezTo>
                  <a:pt x="1778985" y="406933"/>
                  <a:pt x="1764787" y="372655"/>
                  <a:pt x="1764787" y="336913"/>
                </a:cubicBezTo>
                <a:lnTo>
                  <a:pt x="1764787" y="202148"/>
                </a:lnTo>
              </a:path>
            </a:pathLst>
          </a:custGeom>
          <a:ln cap="flat" w="28575">
            <a:solidFill>
              <a:srgbClr val="4D8B7E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2460574" y="3904523"/>
            <a:ext cx="5324805" cy="3576612"/>
          </a:xfrm>
          <a:custGeom>
            <a:avLst/>
            <a:gdLst/>
            <a:ahLst/>
            <a:cxnLst/>
            <a:rect r="r" b="b" t="t" l="l"/>
            <a:pathLst>
              <a:path h="3576612" w="5324805">
                <a:moveTo>
                  <a:pt x="0" y="0"/>
                </a:moveTo>
                <a:lnTo>
                  <a:pt x="5324804" y="0"/>
                </a:lnTo>
                <a:lnTo>
                  <a:pt x="5324804" y="3576611"/>
                </a:lnTo>
                <a:lnTo>
                  <a:pt x="0" y="35766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272" t="-16820" r="-4686" b="-2494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1145535"/>
            <a:ext cx="16473891" cy="954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6"/>
              </a:lnSpc>
            </a:pPr>
            <a:r>
              <a:rPr lang="en-US" sz="7055" b="true">
                <a:solidFill>
                  <a:srgbClr val="F3FDFB"/>
                </a:solidFill>
                <a:latin typeface="DM Sans Bold"/>
                <a:ea typeface="DM Sans Bold"/>
                <a:cs typeface="DM Sans Bold"/>
                <a:sym typeface="DM Sans Bold"/>
              </a:rPr>
              <a:t>Res</a:t>
            </a:r>
            <a:r>
              <a:rPr lang="en-US" sz="7055" b="true">
                <a:solidFill>
                  <a:srgbClr val="F3FDFB"/>
                </a:solidFill>
                <a:latin typeface="DM Sans Bold"/>
                <a:ea typeface="DM Sans Bold"/>
                <a:cs typeface="DM Sans Bold"/>
                <a:sym typeface="DM Sans Bold"/>
              </a:rPr>
              <a:t>ults and Current Implementation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069198" y="9238325"/>
            <a:ext cx="866785" cy="422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3FDFB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09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3053" y="3134443"/>
            <a:ext cx="10598973" cy="5434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Successful ESP32 sensor interfacing.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Ultrasonic distance and estimated depth measurement.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Magnetic sensor-based wheel rotation counting.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Moisture detection.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GPS integration with simulated-location fallback.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Successful ESP32-to-Flask communication.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Live sensor readings displayed on the website.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Automatic pothole ticket generation.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Dashboard statistics based on recorded potholes.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Maintenance status updates.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Calibration of magnetic sensing and severity thresholds.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43D32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4834635" y="-4078193"/>
            <a:ext cx="16715249" cy="8521499"/>
            <a:chOff x="0" y="0"/>
            <a:chExt cx="647700" cy="330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7700" cy="330200"/>
            </a:xfrm>
            <a:custGeom>
              <a:avLst/>
              <a:gdLst/>
              <a:ahLst/>
              <a:cxnLst/>
              <a:rect r="r" b="b" t="t" l="l"/>
              <a:pathLst>
                <a:path h="330200" w="647700">
                  <a:moveTo>
                    <a:pt x="647700" y="330200"/>
                  </a:moveTo>
                  <a:cubicBezTo>
                    <a:pt x="647700" y="150345"/>
                    <a:pt x="500247" y="0"/>
                    <a:pt x="323850" y="0"/>
                  </a:cubicBezTo>
                  <a:cubicBezTo>
                    <a:pt x="147453" y="0"/>
                    <a:pt x="0" y="150345"/>
                    <a:pt x="0" y="330200"/>
                  </a:cubicBezTo>
                  <a:lnTo>
                    <a:pt x="647700" y="330200"/>
                  </a:lnTo>
                  <a:close/>
                </a:path>
              </a:pathLst>
            </a:custGeom>
            <a:gradFill rotWithShape="true">
              <a:gsLst>
                <a:gs pos="0">
                  <a:srgbClr val="64BAA8">
                    <a:alpha val="44000"/>
                  </a:srgbClr>
                </a:gs>
                <a:gs pos="50000">
                  <a:srgbClr val="025F4C">
                    <a:alpha val="44000"/>
                  </a:srgbClr>
                </a:gs>
                <a:gs pos="100000">
                  <a:srgbClr val="4DFFDA">
                    <a:alpha val="44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52400" y="69850"/>
              <a:ext cx="342900" cy="260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4845002" y="5549686"/>
            <a:ext cx="16715249" cy="8521499"/>
            <a:chOff x="0" y="0"/>
            <a:chExt cx="647700" cy="330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7700" cy="330200"/>
            </a:xfrm>
            <a:custGeom>
              <a:avLst/>
              <a:gdLst/>
              <a:ahLst/>
              <a:cxnLst/>
              <a:rect r="r" b="b" t="t" l="l"/>
              <a:pathLst>
                <a:path h="330200" w="647700">
                  <a:moveTo>
                    <a:pt x="647700" y="330200"/>
                  </a:moveTo>
                  <a:cubicBezTo>
                    <a:pt x="647700" y="150345"/>
                    <a:pt x="500247" y="0"/>
                    <a:pt x="323850" y="0"/>
                  </a:cubicBezTo>
                  <a:cubicBezTo>
                    <a:pt x="147453" y="0"/>
                    <a:pt x="0" y="150345"/>
                    <a:pt x="0" y="330200"/>
                  </a:cubicBezTo>
                  <a:lnTo>
                    <a:pt x="647700" y="330200"/>
                  </a:lnTo>
                  <a:close/>
                </a:path>
              </a:pathLst>
            </a:custGeom>
            <a:gradFill rotWithShape="true">
              <a:gsLst>
                <a:gs pos="0">
                  <a:srgbClr val="4D8B7E">
                    <a:alpha val="44000"/>
                  </a:srgbClr>
                </a:gs>
                <a:gs pos="50000">
                  <a:srgbClr val="78E8C5">
                    <a:alpha val="44000"/>
                  </a:srgbClr>
                </a:gs>
                <a:gs pos="100000">
                  <a:srgbClr val="00644F">
                    <a:alpha val="44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52400" y="69850"/>
              <a:ext cx="342900" cy="260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660563"/>
            <a:ext cx="18288000" cy="626437"/>
            <a:chOff x="0" y="0"/>
            <a:chExt cx="4816593" cy="1649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164987"/>
            </a:xfrm>
            <a:custGeom>
              <a:avLst/>
              <a:gdLst/>
              <a:ahLst/>
              <a:cxnLst/>
              <a:rect r="r" b="b" t="t" l="l"/>
              <a:pathLst>
                <a:path h="1649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4987"/>
                  </a:lnTo>
                  <a:lnTo>
                    <a:pt x="0" y="164987"/>
                  </a:lnTo>
                  <a:close/>
                </a:path>
              </a:pathLst>
            </a:custGeom>
            <a:solidFill>
              <a:srgbClr val="4D8B7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2030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15497053" y="7496053"/>
            <a:ext cx="2416870" cy="3165024"/>
            <a:chOff x="0" y="0"/>
            <a:chExt cx="571500" cy="7484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71500" cy="748411"/>
            </a:xfrm>
            <a:custGeom>
              <a:avLst/>
              <a:gdLst/>
              <a:ahLst/>
              <a:cxnLst/>
              <a:rect r="r" b="b" t="t" l="l"/>
              <a:pathLst>
                <a:path h="748411" w="571500">
                  <a:moveTo>
                    <a:pt x="571500" y="748411"/>
                  </a:moveTo>
                  <a:lnTo>
                    <a:pt x="0" y="748411"/>
                  </a:lnTo>
                  <a:lnTo>
                    <a:pt x="0" y="0"/>
                  </a:lnTo>
                  <a:lnTo>
                    <a:pt x="571500" y="748411"/>
                  </a:lnTo>
                  <a:close/>
                </a:path>
              </a:pathLst>
            </a:custGeom>
            <a:solidFill>
              <a:srgbClr val="4D8B7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336105"/>
              <a:ext cx="285750" cy="410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1162050"/>
            <a:ext cx="5750078" cy="1078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0"/>
              </a:lnSpc>
            </a:pPr>
            <a:r>
              <a:rPr lang="en-US" sz="8000" b="true">
                <a:solidFill>
                  <a:srgbClr val="F3FDFB"/>
                </a:solidFill>
                <a:latin typeface="DM Sans Bold"/>
                <a:ea typeface="DM Sans Bold"/>
                <a:cs typeface="DM Sans Bold"/>
                <a:sym typeface="DM Sans Bold"/>
              </a:rPr>
              <a:t>Conclusion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069198" y="9238325"/>
            <a:ext cx="866785" cy="422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3FDFB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10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2655562"/>
            <a:ext cx="7203751" cy="5219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2999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eveloped an ESP32-based prototype for monitoring road conditions.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Integrated ultrasonic, magnetic, moisture, and GPS sensors.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Established wireless communication between the ESP32 and a web dashboard.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Demonstrated live sensor monitoring and pothole depth estimation.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097858" y="1162050"/>
            <a:ext cx="6971340" cy="1078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0"/>
              </a:lnSpc>
            </a:pPr>
            <a:r>
              <a:rPr lang="en-US" sz="8000" b="true">
                <a:solidFill>
                  <a:srgbClr val="F3FDFB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8000" b="true">
                <a:solidFill>
                  <a:srgbClr val="F3FDFB"/>
                </a:solidFill>
                <a:latin typeface="DM Sans Bold"/>
                <a:ea typeface="DM Sans Bold"/>
                <a:cs typeface="DM Sans Bold"/>
                <a:sym typeface="DM Sans Bold"/>
              </a:rPr>
              <a:t>Future S</a:t>
            </a:r>
            <a:r>
              <a:rPr lang="en-US" sz="8000" b="true">
                <a:solidFill>
                  <a:srgbClr val="F3FDFB"/>
                </a:solidFill>
                <a:latin typeface="DM Sans Bold"/>
                <a:ea typeface="DM Sans Bold"/>
                <a:cs typeface="DM Sans Bold"/>
                <a:sym typeface="DM Sans Bold"/>
              </a:rPr>
              <a:t>cope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097858" y="2655562"/>
            <a:ext cx="7203751" cy="5219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Im</a:t>
            </a:r>
            <a:r>
              <a:rPr lang="en-US" sz="2999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prove pothole detection accuracy through sensor calibration.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Implement reliable speed-breaker detection.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Add permanent database storage for pothole records.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Improve GPS-based location tracking.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3FDFB"/>
                </a:solidFill>
                <a:latin typeface="DM Sans"/>
                <a:ea typeface="DM Sans"/>
                <a:cs typeface="DM Sans"/>
                <a:sym typeface="DM Sans"/>
              </a:rPr>
              <a:t>Develop a more robust maintenance management system.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0594" y="315615"/>
            <a:ext cx="17226812" cy="9157669"/>
            <a:chOff x="0" y="0"/>
            <a:chExt cx="2389637" cy="12703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89637" cy="1270317"/>
            </a:xfrm>
            <a:custGeom>
              <a:avLst/>
              <a:gdLst/>
              <a:ahLst/>
              <a:cxnLst/>
              <a:rect r="r" b="b" t="t" l="l"/>
              <a:pathLst>
                <a:path h="1270317" w="2389637">
                  <a:moveTo>
                    <a:pt x="19774" y="0"/>
                  </a:moveTo>
                  <a:lnTo>
                    <a:pt x="2369863" y="0"/>
                  </a:lnTo>
                  <a:cubicBezTo>
                    <a:pt x="2380784" y="0"/>
                    <a:pt x="2389637" y="8853"/>
                    <a:pt x="2389637" y="19774"/>
                  </a:cubicBezTo>
                  <a:lnTo>
                    <a:pt x="2389637" y="1250543"/>
                  </a:lnTo>
                  <a:cubicBezTo>
                    <a:pt x="2389637" y="1261464"/>
                    <a:pt x="2380784" y="1270317"/>
                    <a:pt x="2369863" y="1270317"/>
                  </a:cubicBezTo>
                  <a:lnTo>
                    <a:pt x="19774" y="1270317"/>
                  </a:lnTo>
                  <a:cubicBezTo>
                    <a:pt x="8853" y="1270317"/>
                    <a:pt x="0" y="1261464"/>
                    <a:pt x="0" y="1250543"/>
                  </a:cubicBezTo>
                  <a:lnTo>
                    <a:pt x="0" y="19774"/>
                  </a:lnTo>
                  <a:cubicBezTo>
                    <a:pt x="0" y="8853"/>
                    <a:pt x="8853" y="0"/>
                    <a:pt x="19774" y="0"/>
                  </a:cubicBez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-90956" r="0" b="-90956"/>
              </a:stretch>
            </a:blipFill>
            <a:ln w="19050" cap="rnd">
              <a:solidFill>
                <a:srgbClr val="FFFFFF">
                  <a:alpha val="27843"/>
                </a:srgbClr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660563"/>
            <a:ext cx="18288000" cy="626437"/>
            <a:chOff x="0" y="0"/>
            <a:chExt cx="4816593" cy="16498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164987"/>
            </a:xfrm>
            <a:custGeom>
              <a:avLst/>
              <a:gdLst/>
              <a:ahLst/>
              <a:cxnLst/>
              <a:rect r="r" b="b" t="t" l="l"/>
              <a:pathLst>
                <a:path h="16498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4987"/>
                  </a:lnTo>
                  <a:lnTo>
                    <a:pt x="0" y="164987"/>
                  </a:lnTo>
                  <a:close/>
                </a:path>
              </a:pathLst>
            </a:custGeom>
            <a:solidFill>
              <a:srgbClr val="4D8B7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2030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5400000">
            <a:off x="15497053" y="7496053"/>
            <a:ext cx="2416870" cy="3165024"/>
            <a:chOff x="0" y="0"/>
            <a:chExt cx="571500" cy="7484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1500" cy="748411"/>
            </a:xfrm>
            <a:custGeom>
              <a:avLst/>
              <a:gdLst/>
              <a:ahLst/>
              <a:cxnLst/>
              <a:rect r="r" b="b" t="t" l="l"/>
              <a:pathLst>
                <a:path h="748411" w="571500">
                  <a:moveTo>
                    <a:pt x="571500" y="748411"/>
                  </a:moveTo>
                  <a:lnTo>
                    <a:pt x="0" y="748411"/>
                  </a:lnTo>
                  <a:lnTo>
                    <a:pt x="0" y="0"/>
                  </a:lnTo>
                  <a:lnTo>
                    <a:pt x="571500" y="748411"/>
                  </a:lnTo>
                  <a:close/>
                </a:path>
              </a:pathLst>
            </a:custGeom>
            <a:solidFill>
              <a:srgbClr val="4D8B7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336105"/>
              <a:ext cx="285750" cy="410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189551" y="2632493"/>
            <a:ext cx="15908899" cy="407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99"/>
              </a:lnSpc>
            </a:pPr>
            <a:r>
              <a:rPr lang="en-US" sz="23928" b="true">
                <a:solidFill>
                  <a:srgbClr val="F3FDFB"/>
                </a:solidFill>
                <a:latin typeface="DM Sans Bold"/>
                <a:ea typeface="DM Sans Bold"/>
                <a:cs typeface="DM Sans Bold"/>
                <a:sym typeface="DM Sans Bold"/>
              </a:rPr>
              <a:t>Thank You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069198" y="9238325"/>
            <a:ext cx="866785" cy="422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3FDFB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DAHZZ9krMZs</dc:identifier>
  <dcterms:modified xsi:type="dcterms:W3CDTF">2011-08-01T06:04:30Z</dcterms:modified>
  <cp:revision>1</cp:revision>
  <dc:title>Smart Road Infrastructure Monitoring System </dc:title>
</cp:coreProperties>
</file>